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61" roundtripDataSignature="AMtx7mh1Xjq293vug9oSZIz1kDMjlT6A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9C1AF1-62D1-4ADB-A52F-D370BBC66F13}">
  <a:tblStyle styleId="{F89C1AF1-62D1-4ADB-A52F-D370BBC66F13}"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b="off" i="off"/>
      <a:tcStyle>
        <a:fill>
          <a:solidFill>
            <a:srgbClr val="CACED3"/>
          </a:solidFill>
        </a:fill>
      </a:tcStyle>
    </a:band1H>
    <a:band2H>
      <a:tcTxStyle b="off" i="off"/>
    </a:band2H>
    <a:band1V>
      <a:tcTxStyle b="off" i="off"/>
      <a:tcStyle>
        <a:fill>
          <a:solidFill>
            <a:srgbClr val="CACED3"/>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49FB2B56-BD80-4E1C-A1AB-0FB0A6FC08ED}"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4" name="Google Shape;17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0" name="Google Shape;180;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chemeClr val="dk1"/>
                </a:solidFill>
                <a:latin typeface="Arial"/>
                <a:ea typeface="Arial"/>
                <a:cs typeface="Arial"/>
                <a:sym typeface="Arial"/>
              </a:rPr>
              <a:t>‹#›</a:t>
            </a:fld>
            <a:endParaRPr sz="800">
              <a:solidFill>
                <a:schemeClr val="dk1"/>
              </a:solidFill>
              <a:latin typeface="Arial"/>
              <a:ea typeface="Arial"/>
              <a:cs typeface="Arial"/>
              <a:sym typeface="Arial"/>
            </a:endParaRPr>
          </a:p>
        </p:txBody>
      </p:sp>
      <p:sp>
        <p:nvSpPr>
          <p:cNvPr id="185" name="Google Shape;18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193" name="Google Shape;19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02" name="Google Shape;20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10" name="Google Shape;2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17" name="Google Shape;21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a:p>
        </p:txBody>
      </p:sp>
      <p:sp>
        <p:nvSpPr>
          <p:cNvPr id="226" name="Google Shape;22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31" name="Google Shape;23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39" name="Google Shape;23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48" name="Google Shape;24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57" name="Google Shape;25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66" name="Google Shape;26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800"/>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274" name="Google Shape;27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84" name="Google Shape;284;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99" name="Google Shape;299;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07" name="Google Shape;307;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16" name="Google Shape;316;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
        <p:nvSpPr>
          <p:cNvPr id="324" name="Google Shape;324;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
        <p:nvSpPr>
          <p:cNvPr id="333" name="Google Shape;333;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
        <p:nvSpPr>
          <p:cNvPr id="341" name="Google Shape;341;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
        <p:nvSpPr>
          <p:cNvPr id="350" name="Google Shape;350;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
        <p:nvSpPr>
          <p:cNvPr id="360" name="Google Shape;360;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1200"/>
              <a:buFont typeface="Calibri"/>
              <a:buNone/>
            </a:pPr>
            <a:r>
              <a:t/>
            </a:r>
            <a:endParaRPr/>
          </a:p>
        </p:txBody>
      </p:sp>
      <p:sp>
        <p:nvSpPr>
          <p:cNvPr id="369" name="Google Shape;369;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76" name="Google Shape;376;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82" name="Google Shape;382;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90" name="Google Shape;390;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00" name="Google Shape;400;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08" name="Google Shape;408;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17" name="Google Shape;417;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25" name="Google Shape;425;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31" name="Google Shape;431;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40" name="Google Shape;440;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48" name="Google Shape;448;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56" name="Google Shape;456;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64" name="Google Shape;464;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70" name="Google Shape;470;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77" name="Google Shape;477;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85" name="Google Shape;485;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92" name="Google Shape;492;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00" name="Google Shape;500;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07" name="Google Shape;507;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13" name="Google Shape;513;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22" name="Google Shape;522;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29" name="Google Shape;529;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37" name="Google Shape;537;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45" name="Google Shape;545;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52" name="Google Shape;552;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58" name="Google Shape;558;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65" name="Google Shape;565;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73" name="Google Shape;573;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81" name="Google Shape;581;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 name="Google Shape;587;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88" name="Google Shape;588;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p:cSld name="3_Title Slide-animated gradient">
    <p:spTree>
      <p:nvGrpSpPr>
        <p:cNvPr id="12" name="Shape 12"/>
        <p:cNvGrpSpPr/>
        <p:nvPr/>
      </p:nvGrpSpPr>
      <p:grpSpPr>
        <a:xfrm>
          <a:off x="0" y="0"/>
          <a:ext cx="0" cy="0"/>
          <a:chOff x="0" y="0"/>
          <a:chExt cx="0" cy="0"/>
        </a:xfrm>
      </p:grpSpPr>
      <p:pic>
        <p:nvPicPr>
          <p:cNvPr id="13" name="Google Shape;13;p5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4" name="Google Shape;14;p53"/>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5" name="Google Shape;15;p53"/>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 name="Google Shape;16;p53"/>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 name="Google Shape;17;p53"/>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 name="Google Shape;18;p53"/>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19" name="Google Shape;19;p53"/>
          <p:cNvGrpSpPr/>
          <p:nvPr/>
        </p:nvGrpSpPr>
        <p:grpSpPr>
          <a:xfrm>
            <a:off x="492125" y="395288"/>
            <a:ext cx="796924" cy="423863"/>
            <a:chOff x="310" y="249"/>
            <a:chExt cx="502" cy="267"/>
          </a:xfrm>
        </p:grpSpPr>
        <p:sp>
          <p:nvSpPr>
            <p:cNvPr id="20" name="Google Shape;20;p53"/>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 name="Google Shape;21;p5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 name="Google Shape;22;p5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 name="Google Shape;23;p5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 name="Google Shape;24;p5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 name="Google Shape;25;p5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 name="Google Shape;26;p5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 name="Google Shape;27;p5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 name="Google Shape;28;p5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 name="Google Shape;29;p5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 name="Google Shape;30;p5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 name="Google Shape;31;p5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 name="Google Shape;32;p5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 name="Google Shape;33;p5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p:cSld name="3_Segue">
    <p:spTree>
      <p:nvGrpSpPr>
        <p:cNvPr id="34" name="Shape 34"/>
        <p:cNvGrpSpPr/>
        <p:nvPr/>
      </p:nvGrpSpPr>
      <p:grpSpPr>
        <a:xfrm>
          <a:off x="0" y="0"/>
          <a:ext cx="0" cy="0"/>
          <a:chOff x="0" y="0"/>
          <a:chExt cx="0" cy="0"/>
        </a:xfrm>
      </p:grpSpPr>
      <p:sp>
        <p:nvSpPr>
          <p:cNvPr id="35" name="Google Shape;35;p54"/>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 name="Google Shape;36;p54"/>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37" name="Google Shape;37;p54"/>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076D8E"/>
                </a:solidFill>
                <a:latin typeface="Arial"/>
                <a:ea typeface="Arial"/>
                <a:cs typeface="Arial"/>
                <a:sym typeface="Arial"/>
              </a:rPr>
              <a:t>‹#›</a:t>
            </a:fld>
            <a:endParaRPr b="0" i="0" sz="600" u="none" cap="none" strike="noStrike">
              <a:solidFill>
                <a:srgbClr val="076D8E"/>
              </a:solidFill>
              <a:latin typeface="Arial"/>
              <a:ea typeface="Arial"/>
              <a:cs typeface="Arial"/>
              <a:sym typeface="Arial"/>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8" name="Shape 38"/>
        <p:cNvGrpSpPr/>
        <p:nvPr/>
      </p:nvGrpSpPr>
      <p:grpSpPr>
        <a:xfrm>
          <a:off x="0" y="0"/>
          <a:ext cx="0" cy="0"/>
          <a:chOff x="0" y="0"/>
          <a:chExt cx="0" cy="0"/>
        </a:xfrm>
      </p:grpSpPr>
      <p:sp>
        <p:nvSpPr>
          <p:cNvPr id="39" name="Google Shape;39;p55"/>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55"/>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1" name="Google Shape;41;p55"/>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42" name="Shape 42"/>
        <p:cNvGrpSpPr/>
        <p:nvPr/>
      </p:nvGrpSpPr>
      <p:grpSpPr>
        <a:xfrm>
          <a:off x="0" y="0"/>
          <a:ext cx="0" cy="0"/>
          <a:chOff x="0" y="0"/>
          <a:chExt cx="0" cy="0"/>
        </a:xfrm>
      </p:grpSpPr>
      <p:sp>
        <p:nvSpPr>
          <p:cNvPr id="43" name="Google Shape;43;p59"/>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4" name="Google Shape;44;p59"/>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45" name="Shape 45"/>
        <p:cNvGrpSpPr/>
        <p:nvPr/>
      </p:nvGrpSpPr>
      <p:grpSpPr>
        <a:xfrm>
          <a:off x="0" y="0"/>
          <a:ext cx="0" cy="0"/>
          <a:chOff x="0" y="0"/>
          <a:chExt cx="0" cy="0"/>
        </a:xfrm>
      </p:grpSpPr>
      <p:pic>
        <p:nvPicPr>
          <p:cNvPr id="46" name="Google Shape;46;p56"/>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47" name="Google Shape;47;p56"/>
          <p:cNvGrpSpPr/>
          <p:nvPr/>
        </p:nvGrpSpPr>
        <p:grpSpPr>
          <a:xfrm>
            <a:off x="3746294" y="2129856"/>
            <a:ext cx="1617944" cy="860542"/>
            <a:chOff x="310" y="249"/>
            <a:chExt cx="502" cy="267"/>
          </a:xfrm>
        </p:grpSpPr>
        <p:sp>
          <p:nvSpPr>
            <p:cNvPr id="48" name="Google Shape;48;p56"/>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 name="Google Shape;49;p5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 name="Google Shape;50;p5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 name="Google Shape;51;p5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 name="Google Shape;52;p5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 name="Google Shape;53;p5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 name="Google Shape;54;p5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 name="Google Shape;55;p5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 name="Google Shape;56;p5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 name="Google Shape;57;p5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 name="Google Shape;58;p5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 name="Google Shape;59;p5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 name="Google Shape;60;p5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 name="Google Shape;61;p5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p:cSld name="5_Title Slide-animated gradient">
    <p:spTree>
      <p:nvGrpSpPr>
        <p:cNvPr id="62" name="Shape 62"/>
        <p:cNvGrpSpPr/>
        <p:nvPr/>
      </p:nvGrpSpPr>
      <p:grpSpPr>
        <a:xfrm>
          <a:off x="0" y="0"/>
          <a:ext cx="0" cy="0"/>
          <a:chOff x="0" y="0"/>
          <a:chExt cx="0" cy="0"/>
        </a:xfrm>
      </p:grpSpPr>
      <p:sp>
        <p:nvSpPr>
          <p:cNvPr id="63" name="Google Shape;63;p57"/>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64" name="Google Shape;64;p57"/>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5" name="Google Shape;65;p57"/>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6" name="Google Shape;66;p57"/>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7" name="Google Shape;67;p57"/>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p:cSld name="6_Title Slide-animated gradient">
    <p:spTree>
      <p:nvGrpSpPr>
        <p:cNvPr id="68" name="Shape 68"/>
        <p:cNvGrpSpPr/>
        <p:nvPr/>
      </p:nvGrpSpPr>
      <p:grpSpPr>
        <a:xfrm>
          <a:off x="0" y="0"/>
          <a:ext cx="0" cy="0"/>
          <a:chOff x="0" y="0"/>
          <a:chExt cx="0" cy="0"/>
        </a:xfrm>
      </p:grpSpPr>
      <p:sp>
        <p:nvSpPr>
          <p:cNvPr id="69" name="Google Shape;69;p58"/>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0" name="Google Shape;70;p58"/>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71" name="Google Shape;71;p58"/>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2" name="Google Shape;72;p58"/>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3" name="Google Shape;73;p58"/>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4" name="Google Shape;74;p58"/>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75" name="Shape 75"/>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76" name="Shape 76"/>
        <p:cNvGrpSpPr/>
        <p:nvPr/>
      </p:nvGrpSpPr>
      <p:grpSpPr>
        <a:xfrm>
          <a:off x="0" y="0"/>
          <a:ext cx="0" cy="0"/>
          <a:chOff x="0" y="0"/>
          <a:chExt cx="0" cy="0"/>
        </a:xfrm>
      </p:grpSpPr>
      <p:sp>
        <p:nvSpPr>
          <p:cNvPr id="77" name="Google Shape;77;p61"/>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78" name="Google Shape;78;p61"/>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FFFFFF"/>
              </a:solidFill>
              <a:latin typeface="Arial"/>
              <a:ea typeface="Arial"/>
              <a:cs typeface="Arial"/>
              <a:sym typeface="Arial"/>
            </a:endParaRPr>
          </a:p>
        </p:txBody>
      </p:sp>
      <p:sp>
        <p:nvSpPr>
          <p:cNvPr id="79" name="Google Shape;79;p61"/>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a:ea typeface="Arial"/>
              <a:cs typeface="Arial"/>
              <a:sym typeface="Arial"/>
            </a:endParaRPr>
          </a:p>
        </p:txBody>
      </p:sp>
      <p:sp>
        <p:nvSpPr>
          <p:cNvPr id="80" name="Google Shape;80;p61"/>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49FD9"/>
              </a:solidFill>
              <a:latin typeface="Arial"/>
              <a:ea typeface="Arial"/>
              <a:cs typeface="Arial"/>
              <a:sym typeface="Arial"/>
            </a:endParaRPr>
          </a:p>
        </p:txBody>
      </p:sp>
      <p:sp>
        <p:nvSpPr>
          <p:cNvPr id="81" name="Google Shape;81;p61"/>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2" name="Google Shape;82;p61"/>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3" name="Google Shape;83;p61"/>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4" name="Google Shape;84;p61"/>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5" name="Google Shape;85;p61"/>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6" name="Google Shape;86;p61"/>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87" name="Shape 87"/>
        <p:cNvGrpSpPr/>
        <p:nvPr/>
      </p:nvGrpSpPr>
      <p:grpSpPr>
        <a:xfrm>
          <a:off x="0" y="0"/>
          <a:ext cx="0" cy="0"/>
          <a:chOff x="0" y="0"/>
          <a:chExt cx="0" cy="0"/>
        </a:xfrm>
      </p:grpSpPr>
      <p:sp>
        <p:nvSpPr>
          <p:cNvPr id="88" name="Google Shape;88;p62"/>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89" name="Google Shape;89;p62"/>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90" name="Google Shape;90;p62"/>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91" name="Google Shape;91;p62"/>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92" name="Google Shape;92;p62"/>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3" name="Google Shape;93;p62"/>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4" name="Google Shape;94;p62"/>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5" name="Google Shape;95;p62"/>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6" name="Google Shape;96;p62"/>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62"/>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8" name="Google Shape;98;p62"/>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99" name="Google Shape;99;p62"/>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0" name="Google Shape;100;p62"/>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1" name="Google Shape;101;p62"/>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02" name="Google Shape;102;p62"/>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3" name="Google Shape;103;p62"/>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04" name="Shape 104"/>
        <p:cNvGrpSpPr/>
        <p:nvPr/>
      </p:nvGrpSpPr>
      <p:grpSpPr>
        <a:xfrm>
          <a:off x="0" y="0"/>
          <a:ext cx="0" cy="0"/>
          <a:chOff x="0" y="0"/>
          <a:chExt cx="0" cy="0"/>
        </a:xfrm>
      </p:grpSpPr>
      <p:sp>
        <p:nvSpPr>
          <p:cNvPr id="105" name="Google Shape;105;p6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06" name="Google Shape;106;p63"/>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07" name="Google Shape;107;p63"/>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08" name="Google Shape;108;p63"/>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09" name="Google Shape;109;p63"/>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0" name="Google Shape;110;p63"/>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1" name="Google Shape;111;p63"/>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2" name="Google Shape;112;p63"/>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3" name="Google Shape;113;p63"/>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63"/>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5" name="Google Shape;115;p63"/>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16" name="Google Shape;116;p63"/>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7" name="Google Shape;117;p63"/>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8" name="Google Shape;118;p63"/>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19" name="Google Shape;119;p63"/>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0" name="Google Shape;120;p63"/>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1" name="Google Shape;121;p63"/>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22" name="Google Shape;122;p63"/>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23" name="Google Shape;123;p63"/>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24" name="Google Shape;124;p63"/>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5" name="Google Shape;125;p63"/>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6" name="Google Shape;126;p63"/>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7" name="Google Shape;127;p63"/>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8" name="Google Shape;128;p63"/>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9" name="Google Shape;129;p63"/>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0" name="Google Shape;130;p63"/>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31" name="Google Shape;131;p63"/>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2" name="Google Shape;132;p63"/>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3" name="Google Shape;133;p63"/>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34" name="Google Shape;134;p63"/>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5" name="Google Shape;135;p63"/>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spTree>
      <p:nvGrpSpPr>
        <p:cNvPr id="136" name="Shape 136"/>
        <p:cNvGrpSpPr/>
        <p:nvPr/>
      </p:nvGrpSpPr>
      <p:grpSpPr>
        <a:xfrm>
          <a:off x="0" y="0"/>
          <a:ext cx="0" cy="0"/>
          <a:chOff x="0" y="0"/>
          <a:chExt cx="0" cy="0"/>
        </a:xfrm>
      </p:grpSpPr>
      <p:sp>
        <p:nvSpPr>
          <p:cNvPr id="137" name="Google Shape;137;p64"/>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38" name="Google Shape;138;p64"/>
          <p:cNvGrpSpPr/>
          <p:nvPr/>
        </p:nvGrpSpPr>
        <p:grpSpPr>
          <a:xfrm>
            <a:off x="3746294" y="2129856"/>
            <a:ext cx="1617944" cy="860542"/>
            <a:chOff x="310" y="249"/>
            <a:chExt cx="502" cy="267"/>
          </a:xfrm>
        </p:grpSpPr>
        <p:sp>
          <p:nvSpPr>
            <p:cNvPr id="139" name="Google Shape;139;p6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0" name="Google Shape;140;p6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1" name="Google Shape;141;p6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2" name="Google Shape;142;p6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 name="Google Shape;143;p6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4" name="Google Shape;144;p6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 name="Google Shape;145;p6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6" name="Google Shape;146;p6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7" name="Google Shape;147;p6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8" name="Google Shape;148;p6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9" name="Google Shape;149;p6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0" name="Google Shape;150;p6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1" name="Google Shape;151;p6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 name="Google Shape;152;p6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p:cSld name="3_Closing Slide">
    <p:spTree>
      <p:nvGrpSpPr>
        <p:cNvPr id="153" name="Shape 153"/>
        <p:cNvGrpSpPr/>
        <p:nvPr/>
      </p:nvGrpSpPr>
      <p:grpSpPr>
        <a:xfrm>
          <a:off x="0" y="0"/>
          <a:ext cx="0" cy="0"/>
          <a:chOff x="0" y="0"/>
          <a:chExt cx="0" cy="0"/>
        </a:xfrm>
      </p:grpSpPr>
      <p:grpSp>
        <p:nvGrpSpPr>
          <p:cNvPr id="154" name="Google Shape;154;p65"/>
          <p:cNvGrpSpPr/>
          <p:nvPr/>
        </p:nvGrpSpPr>
        <p:grpSpPr>
          <a:xfrm>
            <a:off x="3746294" y="2129856"/>
            <a:ext cx="1617944" cy="860542"/>
            <a:chOff x="310" y="249"/>
            <a:chExt cx="502" cy="267"/>
          </a:xfrm>
        </p:grpSpPr>
        <p:sp>
          <p:nvSpPr>
            <p:cNvPr id="155" name="Google Shape;155;p65"/>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6" name="Google Shape;156;p6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7" name="Google Shape;157;p6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8" name="Google Shape;158;p6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9" name="Google Shape;159;p6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0" name="Google Shape;160;p6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1" name="Google Shape;161;p6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2" name="Google Shape;162;p6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3" name="Google Shape;163;p6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4" name="Google Shape;164;p6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5" name="Google Shape;165;p6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6" name="Google Shape;166;p6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 name="Google Shape;167;p6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 name="Google Shape;168;p6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9" name="Shape 169"/>
        <p:cNvGrpSpPr/>
        <p:nvPr/>
      </p:nvGrpSpPr>
      <p:grpSpPr>
        <a:xfrm>
          <a:off x="0" y="0"/>
          <a:ext cx="0" cy="0"/>
          <a:chOff x="0" y="0"/>
          <a:chExt cx="0" cy="0"/>
        </a:xfrm>
      </p:grpSpPr>
      <p:sp>
        <p:nvSpPr>
          <p:cNvPr id="170" name="Google Shape;170;p66"/>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2"/>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Clr>
                <a:srgbClr val="000000"/>
              </a:buClr>
              <a:buSzPts val="1400"/>
              <a:buFont typeface="Arial"/>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9pPr>
          </a:lstStyle>
          <a:p/>
        </p:txBody>
      </p:sp>
      <p:sp>
        <p:nvSpPr>
          <p:cNvPr id="11" name="Google Shape;11;p52"/>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2.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3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
          <p:cNvSpPr txBox="1"/>
          <p:nvPr>
            <p:ph type="ctrTitle"/>
          </p:nvPr>
        </p:nvSpPr>
        <p:spPr>
          <a:xfrm>
            <a:off x="291366" y="2125682"/>
            <a:ext cx="7237590" cy="127094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800"/>
              <a:buFont typeface="Arial"/>
              <a:buNone/>
            </a:pPr>
            <a:r>
              <a:rPr lang="en-US" sz="4800">
                <a:solidFill>
                  <a:srgbClr val="AEE8FA"/>
                </a:solidFill>
              </a:rPr>
              <a:t>VLANs</a:t>
            </a:r>
            <a:endParaRPr sz="4600">
              <a:solidFill>
                <a:srgbClr val="AEE8FA"/>
              </a:solidFill>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
          <p:cNvSpPr txBox="1"/>
          <p:nvPr>
            <p:ph type="ctrTitle"/>
          </p:nvPr>
        </p:nvSpPr>
        <p:spPr>
          <a:xfrm>
            <a:off x="416425" y="915409"/>
            <a:ext cx="7598042" cy="180239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Overview of VLANs</a:t>
            </a:r>
            <a:endParaRPr/>
          </a:p>
        </p:txBody>
      </p:sp>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
          <p:cNvSpPr txBox="1"/>
          <p:nvPr>
            <p:ph type="title"/>
          </p:nvPr>
        </p:nvSpPr>
        <p:spPr>
          <a:xfrm>
            <a:off x="1" y="41393"/>
            <a:ext cx="4210545" cy="78988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Overview of VLANs</a:t>
            </a:r>
            <a:br>
              <a:rPr lang="en-US"/>
            </a:br>
            <a:r>
              <a:rPr lang="en-US"/>
              <a:t>VLAN Definitions</a:t>
            </a:r>
            <a:endParaRPr/>
          </a:p>
        </p:txBody>
      </p:sp>
      <p:sp>
        <p:nvSpPr>
          <p:cNvPr id="189" name="Google Shape;189;p3"/>
          <p:cNvSpPr txBox="1"/>
          <p:nvPr>
            <p:ph idx="1" type="body"/>
          </p:nvPr>
        </p:nvSpPr>
        <p:spPr>
          <a:xfrm>
            <a:off x="4210546" y="605969"/>
            <a:ext cx="4767079" cy="4112335"/>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VLANs are logical connections with other similar devices.</a:t>
            </a:r>
            <a:endParaRPr/>
          </a:p>
          <a:p>
            <a:pPr indent="0" lvl="0" marL="0" rtl="0" algn="l">
              <a:lnSpc>
                <a:spcPct val="100000"/>
              </a:lnSpc>
              <a:spcBef>
                <a:spcPts val="1200"/>
              </a:spcBef>
              <a:spcAft>
                <a:spcPts val="0"/>
              </a:spcAft>
              <a:buSzPts val="1440"/>
              <a:buNone/>
            </a:pPr>
            <a:r>
              <a:rPr lang="en-US" sz="1600"/>
              <a:t>Placing devices into various VLANs have the following characteristics:</a:t>
            </a:r>
            <a:endParaRPr/>
          </a:p>
          <a:p>
            <a:pPr indent="-215900" lvl="1" marL="358775" rtl="0" algn="l">
              <a:lnSpc>
                <a:spcPct val="100000"/>
              </a:lnSpc>
              <a:spcBef>
                <a:spcPts val="900"/>
              </a:spcBef>
              <a:spcAft>
                <a:spcPts val="0"/>
              </a:spcAft>
              <a:buSzPts val="1600"/>
              <a:buFont typeface="Arial"/>
              <a:buChar char="•"/>
            </a:pPr>
            <a:r>
              <a:rPr lang="en-US" sz="1600"/>
              <a:t>Provides segmentation of the various groups of devices on the same switches</a:t>
            </a:r>
            <a:endParaRPr/>
          </a:p>
          <a:p>
            <a:pPr indent="-215900" lvl="1" marL="358775" rtl="0" algn="l">
              <a:lnSpc>
                <a:spcPct val="100000"/>
              </a:lnSpc>
              <a:spcBef>
                <a:spcPts val="600"/>
              </a:spcBef>
              <a:spcAft>
                <a:spcPts val="0"/>
              </a:spcAft>
              <a:buSzPts val="1600"/>
              <a:buFont typeface="Arial"/>
              <a:buChar char="•"/>
            </a:pPr>
            <a:r>
              <a:rPr lang="en-US" sz="1600"/>
              <a:t>Provide organization that is more manageable</a:t>
            </a:r>
            <a:endParaRPr/>
          </a:p>
          <a:p>
            <a:pPr indent="-169862" lvl="3" marL="503238" rtl="0" algn="l">
              <a:lnSpc>
                <a:spcPct val="100000"/>
              </a:lnSpc>
              <a:spcBef>
                <a:spcPts val="600"/>
              </a:spcBef>
              <a:spcAft>
                <a:spcPts val="0"/>
              </a:spcAft>
              <a:buClr>
                <a:srgbClr val="000000"/>
              </a:buClr>
              <a:buSzPts val="1600"/>
              <a:buFont typeface="Arial"/>
              <a:buChar char="•"/>
            </a:pPr>
            <a:r>
              <a:rPr lang="en-US" sz="1600"/>
              <a:t>Broadcasts, multicasts and unicasts are isolated in the individual VLAN</a:t>
            </a:r>
            <a:endParaRPr/>
          </a:p>
          <a:p>
            <a:pPr indent="-169862" lvl="3" marL="503238" rtl="0" algn="l">
              <a:lnSpc>
                <a:spcPct val="100000"/>
              </a:lnSpc>
              <a:spcBef>
                <a:spcPts val="600"/>
              </a:spcBef>
              <a:spcAft>
                <a:spcPts val="0"/>
              </a:spcAft>
              <a:buClr>
                <a:srgbClr val="000000"/>
              </a:buClr>
              <a:buSzPts val="1600"/>
              <a:buFont typeface="Arial"/>
              <a:buChar char="•"/>
            </a:pPr>
            <a:r>
              <a:rPr lang="en-US" sz="1600"/>
              <a:t>Each VLAN will have its own unique range of IP addressing</a:t>
            </a:r>
            <a:endParaRPr/>
          </a:p>
          <a:p>
            <a:pPr indent="-169862" lvl="3" marL="503238" rtl="0" algn="l">
              <a:lnSpc>
                <a:spcPct val="100000"/>
              </a:lnSpc>
              <a:spcBef>
                <a:spcPts val="600"/>
              </a:spcBef>
              <a:spcAft>
                <a:spcPts val="0"/>
              </a:spcAft>
              <a:buClr>
                <a:srgbClr val="000000"/>
              </a:buClr>
              <a:buSzPts val="1600"/>
              <a:buFont typeface="Arial"/>
              <a:buChar char="•"/>
            </a:pPr>
            <a:r>
              <a:rPr lang="en-US" sz="1600"/>
              <a:t>Smaller broadcast domains</a:t>
            </a:r>
            <a:endParaRPr/>
          </a:p>
        </p:txBody>
      </p:sp>
      <p:pic>
        <p:nvPicPr>
          <p:cNvPr id="190" name="Google Shape;190;p3"/>
          <p:cNvPicPr preferRelativeResize="0"/>
          <p:nvPr/>
        </p:nvPicPr>
        <p:blipFill rotWithShape="1">
          <a:blip r:embed="rId3">
            <a:alphaModFix/>
          </a:blip>
          <a:srcRect b="0" l="0" r="0" t="0"/>
          <a:stretch/>
        </p:blipFill>
        <p:spPr>
          <a:xfrm>
            <a:off x="176671" y="1326642"/>
            <a:ext cx="4033875" cy="2504694"/>
          </a:xfrm>
          <a:prstGeom prst="rect">
            <a:avLst/>
          </a:prstGeom>
          <a:noFill/>
          <a:ln>
            <a:noFill/>
          </a:ln>
        </p:spPr>
      </p:pic>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
          <p:cNvSpPr txBox="1"/>
          <p:nvPr>
            <p:ph type="title"/>
          </p:nvPr>
        </p:nvSpPr>
        <p:spPr>
          <a:xfrm>
            <a:off x="259475" y="274900"/>
            <a:ext cx="6174900" cy="690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Overview of VLANs</a:t>
            </a:r>
            <a:br>
              <a:rPr lang="en-US" sz="2600"/>
            </a:br>
            <a:r>
              <a:rPr lang="en-US" sz="2600"/>
              <a:t>Benefits of a VLAN Design</a:t>
            </a:r>
            <a:endParaRPr sz="2600"/>
          </a:p>
        </p:txBody>
      </p:sp>
      <p:sp>
        <p:nvSpPr>
          <p:cNvPr id="197" name="Google Shape;197;p4"/>
          <p:cNvSpPr txBox="1"/>
          <p:nvPr>
            <p:ph idx="1" type="body"/>
          </p:nvPr>
        </p:nvSpPr>
        <p:spPr>
          <a:xfrm>
            <a:off x="358381" y="1719077"/>
            <a:ext cx="3761700" cy="340200"/>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620"/>
              <a:buNone/>
            </a:pPr>
            <a:r>
              <a:rPr lang="en-US" sz="1400"/>
              <a:t>Benefits of using VLANs are as follows: </a:t>
            </a:r>
            <a:endParaRPr sz="1100"/>
          </a:p>
        </p:txBody>
      </p:sp>
      <p:graphicFrame>
        <p:nvGraphicFramePr>
          <p:cNvPr id="198" name="Google Shape;198;p4"/>
          <p:cNvGraphicFramePr/>
          <p:nvPr/>
        </p:nvGraphicFramePr>
        <p:xfrm>
          <a:off x="448056" y="2106167"/>
          <a:ext cx="3000000" cy="3000000"/>
        </p:xfrm>
        <a:graphic>
          <a:graphicData uri="http://schemas.openxmlformats.org/drawingml/2006/table">
            <a:tbl>
              <a:tblPr bandRow="1" firstRow="1">
                <a:noFill/>
                <a:tableStyleId>{F89C1AF1-62D1-4ADB-A52F-D370BBC66F13}</a:tableStyleId>
              </a:tblPr>
              <a:tblGrid>
                <a:gridCol w="2020825"/>
                <a:gridCol w="6025900"/>
              </a:tblGrid>
              <a:tr h="298600">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Benefits</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Description</a:t>
                      </a:r>
                      <a:endParaRPr sz="1100" u="none" cap="none" strike="noStrike"/>
                    </a:p>
                  </a:txBody>
                  <a:tcPr marT="45725" marB="45725" marR="91450" marL="91450"/>
                </a:tc>
              </a:tr>
              <a:tr h="353575">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Smaller Broadcast Domains</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Dividing the LAN reduces the number of broadcast domains</a:t>
                      </a:r>
                      <a:endParaRPr sz="1100" u="none" cap="none" strike="noStrike"/>
                    </a:p>
                  </a:txBody>
                  <a:tcPr marT="45725" marB="45725" marR="91450" marL="91450"/>
                </a:tc>
              </a:tr>
              <a:tr h="310900">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Improved Security</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Only users in the same VLAN can communicate together</a:t>
                      </a:r>
                      <a:endParaRPr sz="1100" u="none" cap="none" strike="noStrike"/>
                    </a:p>
                  </a:txBody>
                  <a:tcPr marT="45725" marB="45725" marR="91450" marL="91450"/>
                </a:tc>
              </a:tr>
              <a:tr h="530350">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Improved IT Efficiency</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VLANs can group devices with similar requirements, e.g. faculty vs. students</a:t>
                      </a:r>
                      <a:endParaRPr sz="1100" u="none" cap="none" strike="noStrike"/>
                    </a:p>
                  </a:txBody>
                  <a:tcPr marT="45725" marB="45725" marR="91450" marL="91450"/>
                </a:tc>
              </a:tr>
              <a:tr h="298600">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Reduced Cost</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One switch can support multiple groups or VLANs</a:t>
                      </a:r>
                      <a:endParaRPr sz="1100" u="none" cap="none" strike="noStrike"/>
                    </a:p>
                  </a:txBody>
                  <a:tcPr marT="45725" marB="45725" marR="91450" marL="91450"/>
                </a:tc>
              </a:tr>
              <a:tr h="317000">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Better Performance</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Small broadcast domains reduce traffic, improving bandwidth</a:t>
                      </a:r>
                      <a:endParaRPr sz="1100" u="none" cap="none" strike="noStrike"/>
                    </a:p>
                  </a:txBody>
                  <a:tcPr marT="45725" marB="45725" marR="91450" marL="91450"/>
                </a:tc>
              </a:tr>
              <a:tr h="507600">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Simpler Management</a:t>
                      </a:r>
                      <a:endParaRPr sz="11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100" u="none" cap="none" strike="noStrike"/>
                        <a:t>Similar groups will need similar applications and other network resources</a:t>
                      </a:r>
                      <a:endParaRPr sz="1100" u="none" cap="none" strike="noStrike"/>
                    </a:p>
                  </a:txBody>
                  <a:tcPr marT="45725" marB="45725" marR="91450" marL="91450"/>
                </a:tc>
              </a:tr>
            </a:tbl>
          </a:graphicData>
        </a:graphic>
      </p:graphicFrame>
      <p:pic>
        <p:nvPicPr>
          <p:cNvPr id="199" name="Google Shape;199;p4"/>
          <p:cNvPicPr preferRelativeResize="0"/>
          <p:nvPr/>
        </p:nvPicPr>
        <p:blipFill rotWithShape="1">
          <a:blip r:embed="rId3">
            <a:alphaModFix/>
          </a:blip>
          <a:srcRect b="0" l="0" r="0" t="0"/>
          <a:stretch/>
        </p:blipFill>
        <p:spPr>
          <a:xfrm>
            <a:off x="4318311" y="73152"/>
            <a:ext cx="4030162" cy="1819085"/>
          </a:xfrm>
          <a:prstGeom prst="rect">
            <a:avLst/>
          </a:prstGeom>
          <a:noFill/>
          <a:ln>
            <a:noFill/>
          </a:ln>
        </p:spPr>
      </p:pic>
    </p:spTree>
  </p:cSld>
  <p:clrMapOvr>
    <a:masterClrMapping/>
  </p:clrMapOvr>
  <p:transition spd="slow">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5"/>
          <p:cNvSpPr txBox="1"/>
          <p:nvPr>
            <p:ph type="title"/>
          </p:nvPr>
        </p:nvSpPr>
        <p:spPr>
          <a:xfrm>
            <a:off x="1" y="41393"/>
            <a:ext cx="9144000" cy="726703"/>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Overview of VLANs</a:t>
            </a:r>
            <a:br>
              <a:rPr lang="en-US"/>
            </a:br>
            <a:r>
              <a:rPr lang="en-US"/>
              <a:t>Types of VLANs</a:t>
            </a:r>
            <a:endParaRPr/>
          </a:p>
        </p:txBody>
      </p:sp>
      <p:sp>
        <p:nvSpPr>
          <p:cNvPr id="206" name="Google Shape;206;p5"/>
          <p:cNvSpPr txBox="1"/>
          <p:nvPr>
            <p:ph idx="1" type="body"/>
          </p:nvPr>
        </p:nvSpPr>
        <p:spPr>
          <a:xfrm>
            <a:off x="133753" y="820921"/>
            <a:ext cx="3213687" cy="386995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Default VLAN</a:t>
            </a:r>
            <a:endParaRPr/>
          </a:p>
          <a:p>
            <a:pPr indent="0" lvl="0" marL="0" rtl="0" algn="l">
              <a:lnSpc>
                <a:spcPct val="100000"/>
              </a:lnSpc>
              <a:spcBef>
                <a:spcPts val="1200"/>
              </a:spcBef>
              <a:spcAft>
                <a:spcPts val="0"/>
              </a:spcAft>
              <a:buSzPts val="1440"/>
              <a:buNone/>
            </a:pPr>
            <a:r>
              <a:rPr lang="en-US" sz="1600"/>
              <a:t>   VLAN 1 is the following: </a:t>
            </a:r>
            <a:endParaRPr/>
          </a:p>
          <a:p>
            <a:pPr indent="-215900" lvl="1" marL="358775" rtl="0" algn="l">
              <a:lnSpc>
                <a:spcPct val="100000"/>
              </a:lnSpc>
              <a:spcBef>
                <a:spcPts val="900"/>
              </a:spcBef>
              <a:spcAft>
                <a:spcPts val="0"/>
              </a:spcAft>
              <a:buSzPts val="1600"/>
              <a:buFont typeface="Arial"/>
              <a:buChar char="•"/>
            </a:pPr>
            <a:r>
              <a:rPr lang="en-US" sz="1600"/>
              <a:t>The default VLAN</a:t>
            </a:r>
            <a:endParaRPr/>
          </a:p>
          <a:p>
            <a:pPr indent="-215900" lvl="1" marL="358775" rtl="0" algn="l">
              <a:lnSpc>
                <a:spcPct val="100000"/>
              </a:lnSpc>
              <a:spcBef>
                <a:spcPts val="600"/>
              </a:spcBef>
              <a:spcAft>
                <a:spcPts val="0"/>
              </a:spcAft>
              <a:buSzPts val="1600"/>
              <a:buFont typeface="Arial"/>
              <a:buChar char="•"/>
            </a:pPr>
            <a:r>
              <a:rPr lang="en-US" sz="1600"/>
              <a:t>The default Native VLAN</a:t>
            </a:r>
            <a:endParaRPr/>
          </a:p>
          <a:p>
            <a:pPr indent="-215900" lvl="1" marL="358775" rtl="0" algn="l">
              <a:lnSpc>
                <a:spcPct val="100000"/>
              </a:lnSpc>
              <a:spcBef>
                <a:spcPts val="600"/>
              </a:spcBef>
              <a:spcAft>
                <a:spcPts val="0"/>
              </a:spcAft>
              <a:buSzPts val="1600"/>
              <a:buFont typeface="Arial"/>
              <a:buChar char="•"/>
            </a:pPr>
            <a:r>
              <a:rPr lang="en-US" sz="1600"/>
              <a:t>The default Management VLAN</a:t>
            </a:r>
            <a:endParaRPr/>
          </a:p>
          <a:p>
            <a:pPr indent="-215900" lvl="1" marL="358775" rtl="0" algn="l">
              <a:lnSpc>
                <a:spcPct val="100000"/>
              </a:lnSpc>
              <a:spcBef>
                <a:spcPts val="600"/>
              </a:spcBef>
              <a:spcAft>
                <a:spcPts val="0"/>
              </a:spcAft>
              <a:buSzPts val="1600"/>
              <a:buFont typeface="Arial"/>
              <a:buChar char="•"/>
            </a:pPr>
            <a:r>
              <a:rPr lang="en-US" sz="1600"/>
              <a:t>Cannot be deleted or renamed</a:t>
            </a:r>
            <a:endParaRPr/>
          </a:p>
          <a:p>
            <a:pPr indent="0" lvl="1" marL="142875" rtl="0" algn="l">
              <a:lnSpc>
                <a:spcPct val="100000"/>
              </a:lnSpc>
              <a:spcBef>
                <a:spcPts val="600"/>
              </a:spcBef>
              <a:spcAft>
                <a:spcPts val="0"/>
              </a:spcAft>
              <a:buSzPts val="1600"/>
              <a:buNone/>
            </a:pPr>
            <a:r>
              <a:t/>
            </a:r>
            <a:endParaRPr sz="1600"/>
          </a:p>
          <a:p>
            <a:pPr indent="0" lvl="1" marL="142875" rtl="0" algn="l">
              <a:lnSpc>
                <a:spcPct val="100000"/>
              </a:lnSpc>
              <a:spcBef>
                <a:spcPts val="600"/>
              </a:spcBef>
              <a:spcAft>
                <a:spcPts val="0"/>
              </a:spcAft>
              <a:buSzPts val="1600"/>
              <a:buNone/>
            </a:pPr>
            <a:r>
              <a:rPr b="1" lang="en-US" sz="1600"/>
              <a:t>Note</a:t>
            </a:r>
            <a:r>
              <a:rPr lang="en-US" sz="1600"/>
              <a:t>: While we cannot delete VLAN1 Cisco will recommend that we assign these default features to other VLANs</a:t>
            </a:r>
            <a:endParaRPr/>
          </a:p>
        </p:txBody>
      </p:sp>
      <p:pic>
        <p:nvPicPr>
          <p:cNvPr id="207" name="Google Shape;207;p5"/>
          <p:cNvPicPr preferRelativeResize="0"/>
          <p:nvPr/>
        </p:nvPicPr>
        <p:blipFill rotWithShape="1">
          <a:blip r:embed="rId3">
            <a:alphaModFix/>
          </a:blip>
          <a:srcRect b="0" l="0" r="0" t="0"/>
          <a:stretch/>
        </p:blipFill>
        <p:spPr>
          <a:xfrm>
            <a:off x="3521176" y="1204150"/>
            <a:ext cx="5471948" cy="2380298"/>
          </a:xfrm>
          <a:prstGeom prst="rect">
            <a:avLst/>
          </a:prstGeom>
          <a:noFill/>
          <a:ln>
            <a:noFill/>
          </a:ln>
        </p:spPr>
      </p:pic>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6"/>
          <p:cNvSpPr txBox="1"/>
          <p:nvPr>
            <p:ph type="title"/>
          </p:nvPr>
        </p:nvSpPr>
        <p:spPr>
          <a:xfrm>
            <a:off x="1" y="41393"/>
            <a:ext cx="9144000" cy="635263"/>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Overview of VLANs</a:t>
            </a:r>
            <a:br>
              <a:rPr lang="en-US"/>
            </a:br>
            <a:r>
              <a:rPr lang="en-US"/>
              <a:t>Types of VLANs (Cont.)</a:t>
            </a:r>
            <a:endParaRPr/>
          </a:p>
        </p:txBody>
      </p:sp>
      <p:sp>
        <p:nvSpPr>
          <p:cNvPr id="214" name="Google Shape;214;p6"/>
          <p:cNvSpPr txBox="1"/>
          <p:nvPr>
            <p:ph idx="1" type="body"/>
          </p:nvPr>
        </p:nvSpPr>
        <p:spPr>
          <a:xfrm>
            <a:off x="124609" y="683761"/>
            <a:ext cx="8873087" cy="3997967"/>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b="1" lang="en-US" sz="1600"/>
              <a:t>Data VLAN </a:t>
            </a:r>
            <a:endParaRPr/>
          </a:p>
          <a:p>
            <a:pPr indent="-169863" lvl="0" marL="169863" rtl="0" algn="l">
              <a:lnSpc>
                <a:spcPct val="100000"/>
              </a:lnSpc>
              <a:spcBef>
                <a:spcPts val="1200"/>
              </a:spcBef>
              <a:spcAft>
                <a:spcPts val="0"/>
              </a:spcAft>
              <a:buSzPts val="1440"/>
              <a:buFont typeface="Arial"/>
              <a:buChar char="•"/>
            </a:pPr>
            <a:r>
              <a:rPr lang="en-US" sz="1600"/>
              <a:t>Dedicated to user-generated traffic (email and web traffic). </a:t>
            </a:r>
            <a:endParaRPr/>
          </a:p>
          <a:p>
            <a:pPr indent="-169863" lvl="0" marL="169863" rtl="0" algn="l">
              <a:lnSpc>
                <a:spcPct val="100000"/>
              </a:lnSpc>
              <a:spcBef>
                <a:spcPts val="1200"/>
              </a:spcBef>
              <a:spcAft>
                <a:spcPts val="0"/>
              </a:spcAft>
              <a:buSzPts val="1440"/>
              <a:buFont typeface="Arial"/>
              <a:buChar char="•"/>
            </a:pPr>
            <a:r>
              <a:rPr lang="en-US" sz="1600"/>
              <a:t>VLAN 1 is the default data VLAN because all interfaces are assigned to this VLAN.</a:t>
            </a:r>
            <a:endParaRPr/>
          </a:p>
          <a:p>
            <a:pPr indent="0" lvl="0" marL="0" rtl="0" algn="l">
              <a:lnSpc>
                <a:spcPct val="100000"/>
              </a:lnSpc>
              <a:spcBef>
                <a:spcPts val="1200"/>
              </a:spcBef>
              <a:spcAft>
                <a:spcPts val="0"/>
              </a:spcAft>
              <a:buSzPts val="1440"/>
              <a:buNone/>
            </a:pPr>
            <a:r>
              <a:rPr b="1" lang="en-US" sz="1600"/>
              <a:t>Native VLAN</a:t>
            </a:r>
            <a:endParaRPr/>
          </a:p>
          <a:p>
            <a:pPr indent="-169863" lvl="0" marL="169863" rtl="0" algn="l">
              <a:lnSpc>
                <a:spcPct val="100000"/>
              </a:lnSpc>
              <a:spcBef>
                <a:spcPts val="1200"/>
              </a:spcBef>
              <a:spcAft>
                <a:spcPts val="0"/>
              </a:spcAft>
              <a:buSzPts val="1440"/>
              <a:buFont typeface="Arial"/>
              <a:buChar char="•"/>
            </a:pPr>
            <a:r>
              <a:rPr lang="en-US" sz="1600"/>
              <a:t>This is used for trunk links only. </a:t>
            </a:r>
            <a:endParaRPr/>
          </a:p>
          <a:p>
            <a:pPr indent="-169863" lvl="0" marL="169863" rtl="0" algn="l">
              <a:lnSpc>
                <a:spcPct val="100000"/>
              </a:lnSpc>
              <a:spcBef>
                <a:spcPts val="1200"/>
              </a:spcBef>
              <a:spcAft>
                <a:spcPts val="0"/>
              </a:spcAft>
              <a:buSzPts val="1440"/>
              <a:buFont typeface="Arial"/>
              <a:buChar char="•"/>
            </a:pPr>
            <a:r>
              <a:rPr lang="en-US" sz="1600"/>
              <a:t>All frames are tagged on an 802.1Q trunk link except for those on the native VLAN. </a:t>
            </a:r>
            <a:endParaRPr/>
          </a:p>
          <a:p>
            <a:pPr indent="0" lvl="0" marL="0" rtl="0" algn="l">
              <a:lnSpc>
                <a:spcPct val="100000"/>
              </a:lnSpc>
              <a:spcBef>
                <a:spcPts val="1200"/>
              </a:spcBef>
              <a:spcAft>
                <a:spcPts val="0"/>
              </a:spcAft>
              <a:buSzPts val="1440"/>
              <a:buNone/>
            </a:pPr>
            <a:r>
              <a:rPr b="1" lang="en-US" sz="1600"/>
              <a:t>Management VLAN </a:t>
            </a:r>
            <a:endParaRPr/>
          </a:p>
          <a:p>
            <a:pPr indent="-169863" lvl="0" marL="169863" rtl="0" algn="l">
              <a:lnSpc>
                <a:spcPct val="100000"/>
              </a:lnSpc>
              <a:spcBef>
                <a:spcPts val="1200"/>
              </a:spcBef>
              <a:spcAft>
                <a:spcPts val="0"/>
              </a:spcAft>
              <a:buSzPts val="1440"/>
              <a:buFont typeface="Arial"/>
              <a:buChar char="•"/>
            </a:pPr>
            <a:r>
              <a:rPr lang="en-US" sz="1600"/>
              <a:t>This is used for SSH/Telnet VTY traffic and should not be carried with end user traffic.</a:t>
            </a:r>
            <a:endParaRPr/>
          </a:p>
          <a:p>
            <a:pPr indent="-169863" lvl="0" marL="169863" rtl="0" algn="l">
              <a:lnSpc>
                <a:spcPct val="100000"/>
              </a:lnSpc>
              <a:spcBef>
                <a:spcPts val="1200"/>
              </a:spcBef>
              <a:spcAft>
                <a:spcPts val="0"/>
              </a:spcAft>
              <a:buSzPts val="1440"/>
              <a:buFont typeface="Arial"/>
              <a:buChar char="•"/>
            </a:pPr>
            <a:r>
              <a:rPr lang="en-US" sz="1600"/>
              <a:t>Typically, the VLAN that is the SVI for the Layer 2 switch.  </a:t>
            </a:r>
            <a:endParaRPr/>
          </a:p>
          <a:p>
            <a:pPr indent="-78423" lvl="0" marL="169863" rtl="0" algn="l">
              <a:lnSpc>
                <a:spcPct val="100000"/>
              </a:lnSpc>
              <a:spcBef>
                <a:spcPts val="1200"/>
              </a:spcBef>
              <a:spcAft>
                <a:spcPts val="0"/>
              </a:spcAft>
              <a:buSzPts val="1440"/>
              <a:buFont typeface="Arial"/>
              <a:buNone/>
            </a:pPr>
            <a:r>
              <a:t/>
            </a:r>
            <a:endParaRPr sz="1600"/>
          </a:p>
          <a:p>
            <a:pPr indent="0" lvl="0" marL="0" rtl="0" algn="l">
              <a:lnSpc>
                <a:spcPct val="100000"/>
              </a:lnSpc>
              <a:spcBef>
                <a:spcPts val="1200"/>
              </a:spcBef>
              <a:spcAft>
                <a:spcPts val="0"/>
              </a:spcAft>
              <a:buSzPts val="1440"/>
              <a:buNone/>
            </a:pPr>
            <a:r>
              <a:rPr lang="en-US" sz="1600"/>
              <a:t>   </a:t>
            </a:r>
            <a:endParaRPr/>
          </a:p>
        </p:txBody>
      </p:sp>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7"/>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Overview of VLANs</a:t>
            </a:r>
            <a:br>
              <a:rPr lang="en-US"/>
            </a:br>
            <a:r>
              <a:rPr lang="en-US"/>
              <a:t>Types of VLANs (Cont.)</a:t>
            </a:r>
            <a:endParaRPr/>
          </a:p>
        </p:txBody>
      </p:sp>
      <p:sp>
        <p:nvSpPr>
          <p:cNvPr id="221" name="Google Shape;221;p7"/>
          <p:cNvSpPr txBox="1"/>
          <p:nvPr>
            <p:ph idx="1" type="body"/>
          </p:nvPr>
        </p:nvSpPr>
        <p:spPr>
          <a:xfrm>
            <a:off x="124609" y="894073"/>
            <a:ext cx="4657703" cy="3723647"/>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b="1" lang="en-US" sz="1600"/>
              <a:t>Voice VLAN  </a:t>
            </a:r>
            <a:endParaRPr/>
          </a:p>
          <a:p>
            <a:pPr indent="-215900" lvl="1" marL="358775" rtl="0" algn="l">
              <a:lnSpc>
                <a:spcPct val="100000"/>
              </a:lnSpc>
              <a:spcBef>
                <a:spcPts val="900"/>
              </a:spcBef>
              <a:spcAft>
                <a:spcPts val="0"/>
              </a:spcAft>
              <a:buSzPts val="1600"/>
              <a:buFont typeface="Arial"/>
              <a:buChar char="•"/>
            </a:pPr>
            <a:r>
              <a:rPr lang="en-US" sz="1600"/>
              <a:t>A separate VLAN is required because Voice traffic requires:</a:t>
            </a:r>
            <a:endParaRPr/>
          </a:p>
          <a:p>
            <a:pPr indent="-169862" lvl="3" marL="503238" rtl="0" algn="l">
              <a:lnSpc>
                <a:spcPct val="100000"/>
              </a:lnSpc>
              <a:spcBef>
                <a:spcPts val="600"/>
              </a:spcBef>
              <a:spcAft>
                <a:spcPts val="0"/>
              </a:spcAft>
              <a:buClr>
                <a:srgbClr val="000000"/>
              </a:buClr>
              <a:buSzPts val="1600"/>
              <a:buFont typeface="Arial"/>
              <a:buChar char="•"/>
            </a:pPr>
            <a:r>
              <a:rPr lang="en-US" sz="1600"/>
              <a:t>Assured bandwidth</a:t>
            </a:r>
            <a:endParaRPr/>
          </a:p>
          <a:p>
            <a:pPr indent="-169862" lvl="3" marL="503238" rtl="0" algn="l">
              <a:lnSpc>
                <a:spcPct val="100000"/>
              </a:lnSpc>
              <a:spcBef>
                <a:spcPts val="600"/>
              </a:spcBef>
              <a:spcAft>
                <a:spcPts val="0"/>
              </a:spcAft>
              <a:buClr>
                <a:srgbClr val="000000"/>
              </a:buClr>
              <a:buSzPts val="1600"/>
              <a:buFont typeface="Arial"/>
              <a:buChar char="•"/>
            </a:pPr>
            <a:r>
              <a:rPr lang="en-US" sz="1600"/>
              <a:t>High QoS priority</a:t>
            </a:r>
            <a:endParaRPr/>
          </a:p>
          <a:p>
            <a:pPr indent="-169862" lvl="3" marL="503238" rtl="0" algn="l">
              <a:lnSpc>
                <a:spcPct val="100000"/>
              </a:lnSpc>
              <a:spcBef>
                <a:spcPts val="600"/>
              </a:spcBef>
              <a:spcAft>
                <a:spcPts val="0"/>
              </a:spcAft>
              <a:buClr>
                <a:srgbClr val="000000"/>
              </a:buClr>
              <a:buSzPts val="1600"/>
              <a:buFont typeface="Arial"/>
              <a:buChar char="•"/>
            </a:pPr>
            <a:r>
              <a:rPr lang="en-US" sz="1600"/>
              <a:t>Ability to avoid congestion</a:t>
            </a:r>
            <a:endParaRPr/>
          </a:p>
          <a:p>
            <a:pPr indent="-169862" lvl="3" marL="503238" rtl="0" algn="l">
              <a:lnSpc>
                <a:spcPct val="100000"/>
              </a:lnSpc>
              <a:spcBef>
                <a:spcPts val="600"/>
              </a:spcBef>
              <a:spcAft>
                <a:spcPts val="0"/>
              </a:spcAft>
              <a:buClr>
                <a:srgbClr val="000000"/>
              </a:buClr>
              <a:buSzPts val="1600"/>
              <a:buFont typeface="Arial"/>
              <a:buChar char="•"/>
            </a:pPr>
            <a:r>
              <a:rPr lang="en-US" sz="1600"/>
              <a:t>Delay less that 150 ms from source to destination</a:t>
            </a:r>
            <a:endParaRPr/>
          </a:p>
          <a:p>
            <a:pPr indent="-215900" lvl="1" marL="358775" rtl="0" algn="l">
              <a:lnSpc>
                <a:spcPct val="100000"/>
              </a:lnSpc>
              <a:spcBef>
                <a:spcPts val="600"/>
              </a:spcBef>
              <a:spcAft>
                <a:spcPts val="0"/>
              </a:spcAft>
              <a:buSzPts val="1600"/>
              <a:buFont typeface="Arial"/>
              <a:buChar char="•"/>
            </a:pPr>
            <a:r>
              <a:rPr lang="en-US" sz="1600"/>
              <a:t>The entire network must be designed to support voice.</a:t>
            </a:r>
            <a:endParaRPr/>
          </a:p>
        </p:txBody>
      </p:sp>
      <p:pic>
        <p:nvPicPr>
          <p:cNvPr id="222" name="Google Shape;222;p7"/>
          <p:cNvPicPr preferRelativeResize="0"/>
          <p:nvPr/>
        </p:nvPicPr>
        <p:blipFill rotWithShape="1">
          <a:blip r:embed="rId3">
            <a:alphaModFix/>
          </a:blip>
          <a:srcRect b="0" l="0" r="0" t="0"/>
          <a:stretch/>
        </p:blipFill>
        <p:spPr>
          <a:xfrm>
            <a:off x="4908876" y="923544"/>
            <a:ext cx="3777162" cy="3059049"/>
          </a:xfrm>
          <a:prstGeom prst="rect">
            <a:avLst/>
          </a:prstGeom>
          <a:noFill/>
          <a:ln>
            <a:noFill/>
          </a:ln>
        </p:spPr>
      </p:pic>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9"/>
          <p:cNvSpPr txBox="1"/>
          <p:nvPr>
            <p:ph type="ctrTitle"/>
          </p:nvPr>
        </p:nvSpPr>
        <p:spPr>
          <a:xfrm>
            <a:off x="416425" y="915409"/>
            <a:ext cx="7598042" cy="180239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VLANs in a </a:t>
            </a:r>
            <a:br>
              <a:rPr lang="en-US">
                <a:solidFill>
                  <a:srgbClr val="AEE8FA"/>
                </a:solidFill>
              </a:rPr>
            </a:br>
            <a:r>
              <a:rPr lang="en-US">
                <a:solidFill>
                  <a:srgbClr val="AEE8FA"/>
                </a:solidFill>
              </a:rPr>
              <a:t>Multi-Switched Environment</a:t>
            </a:r>
            <a:endParaRPr/>
          </a:p>
        </p:txBody>
      </p:sp>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0"/>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VLANs in a Multi-Switched Environment</a:t>
            </a:r>
            <a:br>
              <a:rPr lang="en-US"/>
            </a:br>
            <a:r>
              <a:rPr lang="en-US"/>
              <a:t>Defining VLAN Trunks</a:t>
            </a:r>
            <a:endParaRPr/>
          </a:p>
        </p:txBody>
      </p:sp>
      <p:sp>
        <p:nvSpPr>
          <p:cNvPr id="235" name="Google Shape;235;p10"/>
          <p:cNvSpPr txBox="1"/>
          <p:nvPr>
            <p:ph idx="1" type="body"/>
          </p:nvPr>
        </p:nvSpPr>
        <p:spPr>
          <a:xfrm>
            <a:off x="246742" y="798945"/>
            <a:ext cx="3785762" cy="3827919"/>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A trunk is a point-to-point link between two network devices.</a:t>
            </a:r>
            <a:endParaRPr/>
          </a:p>
          <a:p>
            <a:pPr indent="0" lvl="0" marL="0" rtl="0" algn="l">
              <a:lnSpc>
                <a:spcPct val="100000"/>
              </a:lnSpc>
              <a:spcBef>
                <a:spcPts val="1200"/>
              </a:spcBef>
              <a:spcAft>
                <a:spcPts val="0"/>
              </a:spcAft>
              <a:buSzPts val="1440"/>
              <a:buNone/>
            </a:pPr>
            <a:r>
              <a:rPr lang="en-US" sz="1600"/>
              <a:t>Cisco trunk functions:</a:t>
            </a:r>
            <a:endParaRPr/>
          </a:p>
          <a:p>
            <a:pPr indent="-169863" lvl="0" marL="169863" rtl="0" algn="l">
              <a:lnSpc>
                <a:spcPct val="100000"/>
              </a:lnSpc>
              <a:spcBef>
                <a:spcPts val="1200"/>
              </a:spcBef>
              <a:spcAft>
                <a:spcPts val="0"/>
              </a:spcAft>
              <a:buSzPts val="1440"/>
              <a:buFont typeface="Arial"/>
              <a:buChar char="•"/>
            </a:pPr>
            <a:r>
              <a:rPr lang="en-US" sz="1600"/>
              <a:t>Allow more than one VLAN</a:t>
            </a:r>
            <a:endParaRPr/>
          </a:p>
          <a:p>
            <a:pPr indent="-169863" lvl="0" marL="169863" rtl="0" algn="l">
              <a:lnSpc>
                <a:spcPct val="100000"/>
              </a:lnSpc>
              <a:spcBef>
                <a:spcPts val="1200"/>
              </a:spcBef>
              <a:spcAft>
                <a:spcPts val="0"/>
              </a:spcAft>
              <a:buSzPts val="1440"/>
              <a:buFont typeface="Arial"/>
              <a:buChar char="•"/>
            </a:pPr>
            <a:r>
              <a:rPr lang="en-US" sz="1600"/>
              <a:t>Extend the VLAN across the entire network</a:t>
            </a:r>
            <a:endParaRPr/>
          </a:p>
          <a:p>
            <a:pPr indent="-169863" lvl="0" marL="169863" rtl="0" algn="l">
              <a:lnSpc>
                <a:spcPct val="100000"/>
              </a:lnSpc>
              <a:spcBef>
                <a:spcPts val="1200"/>
              </a:spcBef>
              <a:spcAft>
                <a:spcPts val="0"/>
              </a:spcAft>
              <a:buSzPts val="1440"/>
              <a:buFont typeface="Arial"/>
              <a:buChar char="•"/>
            </a:pPr>
            <a:r>
              <a:rPr lang="en-US" sz="1600"/>
              <a:t>By default, supports all VLANs</a:t>
            </a:r>
            <a:endParaRPr/>
          </a:p>
          <a:p>
            <a:pPr indent="-169863" lvl="0" marL="169863" rtl="0" algn="l">
              <a:lnSpc>
                <a:spcPct val="100000"/>
              </a:lnSpc>
              <a:spcBef>
                <a:spcPts val="1200"/>
              </a:spcBef>
              <a:spcAft>
                <a:spcPts val="0"/>
              </a:spcAft>
              <a:buSzPts val="1440"/>
              <a:buFont typeface="Arial"/>
              <a:buChar char="•"/>
            </a:pPr>
            <a:r>
              <a:rPr lang="en-US" sz="1600"/>
              <a:t>Supports 802.1Q trunking</a:t>
            </a:r>
            <a:endParaRPr/>
          </a:p>
        </p:txBody>
      </p:sp>
      <p:pic>
        <p:nvPicPr>
          <p:cNvPr id="236" name="Google Shape;236;p10"/>
          <p:cNvPicPr preferRelativeResize="0"/>
          <p:nvPr/>
        </p:nvPicPr>
        <p:blipFill rotWithShape="1">
          <a:blip r:embed="rId3">
            <a:alphaModFix/>
          </a:blip>
          <a:srcRect b="0" l="0" r="0" t="0"/>
          <a:stretch/>
        </p:blipFill>
        <p:spPr>
          <a:xfrm>
            <a:off x="4032504" y="1327641"/>
            <a:ext cx="4718800" cy="2488217"/>
          </a:xfrm>
          <a:prstGeom prst="rect">
            <a:avLst/>
          </a:prstGeom>
          <a:noFill/>
          <a:ln>
            <a:noFill/>
          </a:ln>
        </p:spPr>
      </p:pic>
    </p:spTree>
  </p:cSld>
  <p:clrMapOvr>
    <a:masterClrMapping/>
  </p:clrMapOvr>
  <p:transition spd="slow">
    <p:wipe dir="l"/>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1"/>
          <p:cNvSpPr txBox="1"/>
          <p:nvPr>
            <p:ph type="title"/>
          </p:nvPr>
        </p:nvSpPr>
        <p:spPr>
          <a:xfrm>
            <a:off x="1" y="41393"/>
            <a:ext cx="9011652"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VLANs in a Multi-Switched Environment</a:t>
            </a:r>
            <a:br>
              <a:rPr lang="en-US"/>
            </a:br>
            <a:r>
              <a:rPr lang="en-US"/>
              <a:t>Networks without VLANs</a:t>
            </a:r>
            <a:endParaRPr/>
          </a:p>
        </p:txBody>
      </p:sp>
      <p:sp>
        <p:nvSpPr>
          <p:cNvPr id="243" name="Google Shape;243;p11"/>
          <p:cNvSpPr txBox="1"/>
          <p:nvPr>
            <p:ph idx="1" type="body"/>
          </p:nvPr>
        </p:nvSpPr>
        <p:spPr>
          <a:xfrm>
            <a:off x="261256" y="856343"/>
            <a:ext cx="8526128" cy="755889"/>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Without VLANs, all devices connected to the switches will receive all unicast, multicast, and broadcast traffic.</a:t>
            </a:r>
            <a:endParaRPr/>
          </a:p>
        </p:txBody>
      </p:sp>
      <p:pic>
        <p:nvPicPr>
          <p:cNvPr id="244" name="Google Shape;244;p11"/>
          <p:cNvPicPr preferRelativeResize="0"/>
          <p:nvPr/>
        </p:nvPicPr>
        <p:blipFill rotWithShape="1">
          <a:blip r:embed="rId3">
            <a:alphaModFix/>
          </a:blip>
          <a:srcRect b="0" l="0" r="0" t="0"/>
          <a:stretch/>
        </p:blipFill>
        <p:spPr>
          <a:xfrm>
            <a:off x="1890985" y="1923401"/>
            <a:ext cx="4637831" cy="2785759"/>
          </a:xfrm>
          <a:prstGeom prst="rect">
            <a:avLst/>
          </a:prstGeom>
          <a:noFill/>
          <a:ln>
            <a:noFill/>
          </a:ln>
        </p:spPr>
      </p:pic>
      <p:pic>
        <p:nvPicPr>
          <p:cNvPr id="245" name="Google Shape;245;p11"/>
          <p:cNvPicPr preferRelativeResize="0"/>
          <p:nvPr/>
        </p:nvPicPr>
        <p:blipFill rotWithShape="1">
          <a:blip r:embed="rId4">
            <a:alphaModFix/>
          </a:blip>
          <a:srcRect b="16649" l="0" r="0" t="0"/>
          <a:stretch/>
        </p:blipFill>
        <p:spPr>
          <a:xfrm>
            <a:off x="11310493" y="3316280"/>
            <a:ext cx="3582577" cy="1679688"/>
          </a:xfrm>
          <a:prstGeom prst="rect">
            <a:avLst/>
          </a:prstGeom>
          <a:noFill/>
          <a:ln>
            <a:noFill/>
          </a:ln>
        </p:spPr>
      </p:pic>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2"/>
          <p:cNvSpPr txBox="1"/>
          <p:nvPr>
            <p:ph type="title"/>
          </p:nvPr>
        </p:nvSpPr>
        <p:spPr>
          <a:xfrm>
            <a:off x="0" y="41393"/>
            <a:ext cx="4688113" cy="8294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VLANs in a Multi-Switched Environment</a:t>
            </a:r>
            <a:br>
              <a:rPr lang="en-US"/>
            </a:br>
            <a:r>
              <a:rPr lang="en-US"/>
              <a:t>Networks with VLANs</a:t>
            </a:r>
            <a:endParaRPr/>
          </a:p>
        </p:txBody>
      </p:sp>
      <p:sp>
        <p:nvSpPr>
          <p:cNvPr id="252" name="Google Shape;252;p12"/>
          <p:cNvSpPr txBox="1"/>
          <p:nvPr>
            <p:ph idx="1" type="body"/>
          </p:nvPr>
        </p:nvSpPr>
        <p:spPr>
          <a:xfrm>
            <a:off x="203200" y="986971"/>
            <a:ext cx="8712199" cy="768677"/>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With VLANs, unicast, multicast, and broadcast traffic is confined to a VLAN. Without a Layer 3 device to connect the VLANs, devices in different VLANs cannot communicate. </a:t>
            </a:r>
            <a:endParaRPr/>
          </a:p>
        </p:txBody>
      </p:sp>
      <p:pic>
        <p:nvPicPr>
          <p:cNvPr id="253" name="Google Shape;253;p12"/>
          <p:cNvPicPr preferRelativeResize="0"/>
          <p:nvPr/>
        </p:nvPicPr>
        <p:blipFill rotWithShape="1">
          <a:blip r:embed="rId3">
            <a:alphaModFix/>
          </a:blip>
          <a:srcRect b="0" l="0" r="0" t="0"/>
          <a:stretch/>
        </p:blipFill>
        <p:spPr>
          <a:xfrm>
            <a:off x="1644689" y="1709928"/>
            <a:ext cx="5231599" cy="2932259"/>
          </a:xfrm>
          <a:prstGeom prst="rect">
            <a:avLst/>
          </a:prstGeom>
          <a:noFill/>
          <a:ln>
            <a:noFill/>
          </a:ln>
        </p:spPr>
      </p:pic>
      <p:pic>
        <p:nvPicPr>
          <p:cNvPr id="254" name="Google Shape;254;p12"/>
          <p:cNvPicPr preferRelativeResize="0"/>
          <p:nvPr/>
        </p:nvPicPr>
        <p:blipFill rotWithShape="1">
          <a:blip r:embed="rId4">
            <a:alphaModFix/>
          </a:blip>
          <a:srcRect b="14999" l="3437" r="11250" t="4305"/>
          <a:stretch/>
        </p:blipFill>
        <p:spPr>
          <a:xfrm>
            <a:off x="10800265" y="3496885"/>
            <a:ext cx="2873334" cy="1528761"/>
          </a:xfrm>
          <a:prstGeom prst="rect">
            <a:avLst/>
          </a:prstGeom>
          <a:noFill/>
          <a:ln>
            <a:noFill/>
          </a:ln>
        </p:spPr>
      </p:pic>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3"/>
          <p:cNvSpPr txBox="1"/>
          <p:nvPr>
            <p:ph type="title"/>
          </p:nvPr>
        </p:nvSpPr>
        <p:spPr>
          <a:xfrm>
            <a:off x="0" y="41393"/>
            <a:ext cx="5330952" cy="78156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VLANs in a Multi-Switched Environment</a:t>
            </a:r>
            <a:br>
              <a:rPr lang="en-US"/>
            </a:br>
            <a:r>
              <a:rPr lang="en-US"/>
              <a:t>VLAN Identification with a Tag</a:t>
            </a:r>
            <a:endParaRPr/>
          </a:p>
        </p:txBody>
      </p:sp>
      <p:sp>
        <p:nvSpPr>
          <p:cNvPr id="261" name="Google Shape;261;p13"/>
          <p:cNvSpPr txBox="1"/>
          <p:nvPr>
            <p:ph idx="1" type="body"/>
          </p:nvPr>
        </p:nvSpPr>
        <p:spPr>
          <a:xfrm>
            <a:off x="175768" y="804090"/>
            <a:ext cx="5307394" cy="1811093"/>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The IEEE 802.1Q header is 4 Bytes</a:t>
            </a:r>
            <a:endParaRPr/>
          </a:p>
          <a:p>
            <a:pPr indent="-169863" lvl="0" marL="169863" rtl="0" algn="l">
              <a:lnSpc>
                <a:spcPct val="100000"/>
              </a:lnSpc>
              <a:spcBef>
                <a:spcPts val="1200"/>
              </a:spcBef>
              <a:spcAft>
                <a:spcPts val="0"/>
              </a:spcAft>
              <a:buSzPts val="1440"/>
              <a:buFont typeface="Arial"/>
              <a:buChar char="•"/>
            </a:pPr>
            <a:r>
              <a:rPr lang="en-US" sz="1600"/>
              <a:t>When the tag is created the FCS must be recalculated.</a:t>
            </a:r>
            <a:endParaRPr/>
          </a:p>
          <a:p>
            <a:pPr indent="-169863" lvl="0" marL="169863" rtl="0" algn="l">
              <a:lnSpc>
                <a:spcPct val="100000"/>
              </a:lnSpc>
              <a:spcBef>
                <a:spcPts val="1200"/>
              </a:spcBef>
              <a:spcAft>
                <a:spcPts val="0"/>
              </a:spcAft>
              <a:buSzPts val="1440"/>
              <a:buFont typeface="Arial"/>
              <a:buChar char="•"/>
            </a:pPr>
            <a:r>
              <a:rPr lang="en-US" sz="1600"/>
              <a:t>When sent to end devices, this tag must be removed and the FCS recalculated back to its original number.</a:t>
            </a:r>
            <a:endParaRPr/>
          </a:p>
          <a:p>
            <a:pPr indent="0" lvl="0" marL="0" rtl="0" algn="l">
              <a:lnSpc>
                <a:spcPct val="100000"/>
              </a:lnSpc>
              <a:spcBef>
                <a:spcPts val="1200"/>
              </a:spcBef>
              <a:spcAft>
                <a:spcPts val="0"/>
              </a:spcAft>
              <a:buSzPts val="1350"/>
              <a:buNone/>
            </a:pPr>
            <a:r>
              <a:t/>
            </a:r>
            <a:endParaRPr/>
          </a:p>
        </p:txBody>
      </p:sp>
      <p:graphicFrame>
        <p:nvGraphicFramePr>
          <p:cNvPr id="262" name="Google Shape;262;p13"/>
          <p:cNvGraphicFramePr/>
          <p:nvPr/>
        </p:nvGraphicFramePr>
        <p:xfrm>
          <a:off x="265177" y="2702307"/>
          <a:ext cx="3000000" cy="3000000"/>
        </p:xfrm>
        <a:graphic>
          <a:graphicData uri="http://schemas.openxmlformats.org/drawingml/2006/table">
            <a:tbl>
              <a:tblPr bandRow="1" firstRow="1">
                <a:noFill/>
                <a:tableStyleId>{F89C1AF1-62D1-4ADB-A52F-D370BBC66F13}</a:tableStyleId>
              </a:tblPr>
              <a:tblGrid>
                <a:gridCol w="3264600"/>
                <a:gridCol w="5422200"/>
              </a:tblGrid>
              <a:tr h="3024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802.1Q VLAN Tag Field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Function</a:t>
                      </a:r>
                      <a:endParaRPr sz="1400" u="none" cap="none" strike="noStrike"/>
                    </a:p>
                  </a:txBody>
                  <a:tcPr marT="45725" marB="45725" marR="91450" marL="91450"/>
                </a:tc>
              </a:tr>
              <a:tr h="3235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Type</a:t>
                      </a:r>
                      <a:endParaRPr sz="1400" u="none" cap="none" strike="noStrike"/>
                    </a:p>
                  </a:txBody>
                  <a:tcPr marT="45725" marB="45725" marR="91450" marL="91450"/>
                </a:tc>
                <a:tc>
                  <a:txBody>
                    <a:bodyPr/>
                    <a:lstStyle/>
                    <a:p>
                      <a:pPr indent="-285750" lvl="0" marL="285750" marR="0" rtl="0" algn="l">
                        <a:lnSpc>
                          <a:spcPct val="100000"/>
                        </a:lnSpc>
                        <a:spcBef>
                          <a:spcPts val="0"/>
                        </a:spcBef>
                        <a:spcAft>
                          <a:spcPts val="0"/>
                        </a:spcAft>
                        <a:buClr>
                          <a:schemeClr val="dk1"/>
                        </a:buClr>
                        <a:buSzPts val="1400"/>
                        <a:buFont typeface="Arial"/>
                        <a:buChar char="•"/>
                      </a:pPr>
                      <a:r>
                        <a:rPr lang="en-US" sz="1400" u="none" cap="none" strike="noStrike"/>
                        <a:t>2-Byte field with hexadecimal 0x8100</a:t>
                      </a:r>
                      <a:endParaRPr sz="1400" u="none" cap="none" strike="noStrike"/>
                    </a:p>
                    <a:p>
                      <a:pPr indent="-285750" lvl="0" marL="285750" marR="0" rtl="0" algn="l">
                        <a:lnSpc>
                          <a:spcPct val="100000"/>
                        </a:lnSpc>
                        <a:spcBef>
                          <a:spcPts val="0"/>
                        </a:spcBef>
                        <a:spcAft>
                          <a:spcPts val="0"/>
                        </a:spcAft>
                        <a:buClr>
                          <a:schemeClr val="dk1"/>
                        </a:buClr>
                        <a:buSzPts val="1400"/>
                        <a:buFont typeface="Arial"/>
                        <a:buChar char="•"/>
                      </a:pPr>
                      <a:r>
                        <a:rPr lang="en-US" sz="1400" u="none" cap="none" strike="noStrike"/>
                        <a:t>This is referred to as Tag Protocol ID (TPID)</a:t>
                      </a:r>
                      <a:endParaRPr sz="1400" u="none" cap="none" strike="noStrike"/>
                    </a:p>
                  </a:txBody>
                  <a:tcPr marT="45725" marB="45725" marR="91450" marL="91450"/>
                </a:tc>
              </a:tr>
              <a:tr h="33382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User Priority</a:t>
                      </a:r>
                      <a:endParaRPr sz="1400" u="none" cap="none" strike="noStrike"/>
                    </a:p>
                  </a:txBody>
                  <a:tcPr marT="45725" marB="45725" marR="91450" marL="91450"/>
                </a:tc>
                <a:tc>
                  <a:txBody>
                    <a:bodyPr/>
                    <a:lstStyle/>
                    <a:p>
                      <a:pPr indent="-285750" lvl="0" marL="285750" marR="0" rtl="0" algn="l">
                        <a:lnSpc>
                          <a:spcPct val="100000"/>
                        </a:lnSpc>
                        <a:spcBef>
                          <a:spcPts val="0"/>
                        </a:spcBef>
                        <a:spcAft>
                          <a:spcPts val="0"/>
                        </a:spcAft>
                        <a:buClr>
                          <a:schemeClr val="dk1"/>
                        </a:buClr>
                        <a:buSzPts val="1400"/>
                        <a:buFont typeface="Arial"/>
                        <a:buChar char="•"/>
                      </a:pPr>
                      <a:r>
                        <a:rPr lang="en-US" sz="1400" u="none" cap="none" strike="noStrike"/>
                        <a:t>3-bit value that supports </a:t>
                      </a:r>
                      <a:endParaRPr sz="1400" u="none" cap="none" strike="noStrike"/>
                    </a:p>
                  </a:txBody>
                  <a:tcPr marT="45725" marB="45725" marR="91450" marL="91450"/>
                </a:tc>
              </a:tr>
              <a:tr h="33532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Canonical Format Identifier (CFI)</a:t>
                      </a:r>
                      <a:endParaRPr sz="1400" u="none" cap="none" strike="noStrike"/>
                    </a:p>
                  </a:txBody>
                  <a:tcPr marT="45725" marB="45725" marR="91450" marL="91450"/>
                </a:tc>
                <a:tc>
                  <a:txBody>
                    <a:bodyPr/>
                    <a:lstStyle/>
                    <a:p>
                      <a:pPr indent="-285750" lvl="0" marL="285750" marR="0" rtl="0" algn="l">
                        <a:lnSpc>
                          <a:spcPct val="100000"/>
                        </a:lnSpc>
                        <a:spcBef>
                          <a:spcPts val="0"/>
                        </a:spcBef>
                        <a:spcAft>
                          <a:spcPts val="0"/>
                        </a:spcAft>
                        <a:buClr>
                          <a:schemeClr val="dk1"/>
                        </a:buClr>
                        <a:buSzPts val="1400"/>
                        <a:buFont typeface="Arial"/>
                        <a:buChar char="•"/>
                      </a:pPr>
                      <a:r>
                        <a:rPr lang="en-US" sz="1400" u="none" cap="none" strike="noStrike"/>
                        <a:t>1-bit value that can support token ring frames on Ethernet</a:t>
                      </a:r>
                      <a:endParaRPr sz="1400" u="none" cap="none" strike="noStrike"/>
                    </a:p>
                  </a:txBody>
                  <a:tcPr marT="45725" marB="45725" marR="91450" marL="91450"/>
                </a:tc>
              </a:tr>
              <a:tr h="31932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VLAN ID (VID)</a:t>
                      </a:r>
                      <a:endParaRPr sz="1400" u="none" cap="none" strike="noStrike"/>
                    </a:p>
                  </a:txBody>
                  <a:tcPr marT="45725" marB="45725" marR="91450" marL="91450"/>
                </a:tc>
                <a:tc>
                  <a:txBody>
                    <a:bodyPr/>
                    <a:lstStyle/>
                    <a:p>
                      <a:pPr indent="-285750" lvl="0" marL="285750" marR="0" rtl="0" algn="l">
                        <a:lnSpc>
                          <a:spcPct val="100000"/>
                        </a:lnSpc>
                        <a:spcBef>
                          <a:spcPts val="0"/>
                        </a:spcBef>
                        <a:spcAft>
                          <a:spcPts val="0"/>
                        </a:spcAft>
                        <a:buClr>
                          <a:schemeClr val="dk1"/>
                        </a:buClr>
                        <a:buSzPts val="1400"/>
                        <a:buFont typeface="Arial"/>
                        <a:buChar char="•"/>
                      </a:pPr>
                      <a:r>
                        <a:rPr lang="en-US" sz="1400" u="none" cap="none" strike="noStrike"/>
                        <a:t>12-bit VLAN identifier that can support up to 4096 VLANs</a:t>
                      </a:r>
                      <a:endParaRPr sz="1400" u="none" cap="none" strike="noStrike"/>
                    </a:p>
                  </a:txBody>
                  <a:tcPr marT="45725" marB="45725" marR="91450" marL="91450"/>
                </a:tc>
              </a:tr>
            </a:tbl>
          </a:graphicData>
        </a:graphic>
      </p:graphicFrame>
      <p:pic>
        <p:nvPicPr>
          <p:cNvPr id="263" name="Google Shape;263;p13"/>
          <p:cNvPicPr preferRelativeResize="0"/>
          <p:nvPr/>
        </p:nvPicPr>
        <p:blipFill rotWithShape="1">
          <a:blip r:embed="rId3">
            <a:alphaModFix/>
          </a:blip>
          <a:srcRect b="0" l="0" r="0" t="0"/>
          <a:stretch/>
        </p:blipFill>
        <p:spPr>
          <a:xfrm>
            <a:off x="5483162" y="149893"/>
            <a:ext cx="3660838" cy="2402906"/>
          </a:xfrm>
          <a:prstGeom prst="rect">
            <a:avLst/>
          </a:prstGeom>
          <a:noFill/>
          <a:ln>
            <a:noFill/>
          </a:ln>
        </p:spPr>
      </p:pic>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4"/>
          <p:cNvSpPr txBox="1"/>
          <p:nvPr>
            <p:ph type="title"/>
          </p:nvPr>
        </p:nvSpPr>
        <p:spPr>
          <a:xfrm>
            <a:off x="0" y="41393"/>
            <a:ext cx="9006840" cy="8294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VLANs in a Multi-Switched Environment</a:t>
            </a:r>
            <a:br>
              <a:rPr lang="en-US"/>
            </a:br>
            <a:r>
              <a:rPr lang="en-US"/>
              <a:t>Native VLANs and 802.1Q Tagging</a:t>
            </a:r>
            <a:endParaRPr/>
          </a:p>
        </p:txBody>
      </p:sp>
      <p:sp>
        <p:nvSpPr>
          <p:cNvPr id="270" name="Google Shape;270;p14"/>
          <p:cNvSpPr txBox="1"/>
          <p:nvPr>
            <p:ph idx="1" type="body"/>
          </p:nvPr>
        </p:nvSpPr>
        <p:spPr>
          <a:xfrm>
            <a:off x="203201" y="986970"/>
            <a:ext cx="4572000" cy="3414045"/>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802.1Q trunk basics:</a:t>
            </a:r>
            <a:endParaRPr/>
          </a:p>
          <a:p>
            <a:pPr indent="-169863" lvl="0" marL="169863" rtl="0" algn="l">
              <a:lnSpc>
                <a:spcPct val="100000"/>
              </a:lnSpc>
              <a:spcBef>
                <a:spcPts val="1200"/>
              </a:spcBef>
              <a:spcAft>
                <a:spcPts val="0"/>
              </a:spcAft>
              <a:buSzPts val="1440"/>
              <a:buFont typeface="Arial"/>
              <a:buChar char="•"/>
            </a:pPr>
            <a:r>
              <a:rPr lang="en-US" sz="1600"/>
              <a:t>Tagging is typically done on all VLANs.</a:t>
            </a:r>
            <a:endParaRPr/>
          </a:p>
          <a:p>
            <a:pPr indent="-169863" lvl="0" marL="169863" rtl="0" algn="l">
              <a:lnSpc>
                <a:spcPct val="100000"/>
              </a:lnSpc>
              <a:spcBef>
                <a:spcPts val="1200"/>
              </a:spcBef>
              <a:spcAft>
                <a:spcPts val="0"/>
              </a:spcAft>
              <a:buSzPts val="1440"/>
              <a:buFont typeface="Arial"/>
              <a:buChar char="•"/>
            </a:pPr>
            <a:r>
              <a:rPr lang="en-US" sz="1600"/>
              <a:t>The use of a native VLAN was designed for legacy use, like the hub in the example.</a:t>
            </a:r>
            <a:endParaRPr/>
          </a:p>
          <a:p>
            <a:pPr indent="-169863" lvl="0" marL="169863" rtl="0" algn="l">
              <a:lnSpc>
                <a:spcPct val="100000"/>
              </a:lnSpc>
              <a:spcBef>
                <a:spcPts val="1200"/>
              </a:spcBef>
              <a:spcAft>
                <a:spcPts val="0"/>
              </a:spcAft>
              <a:buSzPts val="1440"/>
              <a:buFont typeface="Arial"/>
              <a:buChar char="•"/>
            </a:pPr>
            <a:r>
              <a:rPr lang="en-US" sz="1600"/>
              <a:t>Unless changed, VLAN1 is the native VLAN.</a:t>
            </a:r>
            <a:endParaRPr/>
          </a:p>
          <a:p>
            <a:pPr indent="-169863" lvl="0" marL="169863" rtl="0" algn="l">
              <a:lnSpc>
                <a:spcPct val="100000"/>
              </a:lnSpc>
              <a:spcBef>
                <a:spcPts val="1200"/>
              </a:spcBef>
              <a:spcAft>
                <a:spcPts val="0"/>
              </a:spcAft>
              <a:buSzPts val="1440"/>
              <a:buFont typeface="Arial"/>
              <a:buChar char="•"/>
            </a:pPr>
            <a:r>
              <a:rPr lang="en-US" sz="1600"/>
              <a:t>Both ends of a trunk link must be configured with the same native VLAN.</a:t>
            </a:r>
            <a:endParaRPr/>
          </a:p>
          <a:p>
            <a:pPr indent="-169863" lvl="0" marL="169863" rtl="0" algn="l">
              <a:lnSpc>
                <a:spcPct val="100000"/>
              </a:lnSpc>
              <a:spcBef>
                <a:spcPts val="1200"/>
              </a:spcBef>
              <a:spcAft>
                <a:spcPts val="0"/>
              </a:spcAft>
              <a:buSzPts val="1440"/>
              <a:buFont typeface="Arial"/>
              <a:buChar char="•"/>
            </a:pPr>
            <a:r>
              <a:rPr lang="en-US" sz="1600"/>
              <a:t>Each trunk is configured separately, so it is possible to have a different native VLANs on separate trunks.</a:t>
            </a:r>
            <a:endParaRPr/>
          </a:p>
        </p:txBody>
      </p:sp>
      <p:pic>
        <p:nvPicPr>
          <p:cNvPr id="271" name="Google Shape;271;p14"/>
          <p:cNvPicPr preferRelativeResize="0"/>
          <p:nvPr/>
        </p:nvPicPr>
        <p:blipFill rotWithShape="1">
          <a:blip r:embed="rId3">
            <a:alphaModFix/>
          </a:blip>
          <a:srcRect b="0" l="0" r="0" t="0"/>
          <a:stretch/>
        </p:blipFill>
        <p:spPr>
          <a:xfrm>
            <a:off x="4872789" y="1317324"/>
            <a:ext cx="3962848" cy="2797475"/>
          </a:xfrm>
          <a:prstGeom prst="rect">
            <a:avLst/>
          </a:prstGeom>
          <a:noFill/>
          <a:ln>
            <a:noFill/>
          </a:ln>
        </p:spPr>
      </p:pic>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5"/>
          <p:cNvSpPr txBox="1"/>
          <p:nvPr>
            <p:ph type="title"/>
          </p:nvPr>
        </p:nvSpPr>
        <p:spPr>
          <a:xfrm>
            <a:off x="0" y="41393"/>
            <a:ext cx="5197642" cy="8294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VLANs in a Multi-Switched Environment</a:t>
            </a:r>
            <a:br>
              <a:rPr lang="en-US"/>
            </a:br>
            <a:r>
              <a:rPr lang="en-US"/>
              <a:t>Voice VLAN Tagging</a:t>
            </a:r>
            <a:endParaRPr/>
          </a:p>
        </p:txBody>
      </p:sp>
      <p:sp>
        <p:nvSpPr>
          <p:cNvPr id="278" name="Google Shape;278;p15"/>
          <p:cNvSpPr txBox="1"/>
          <p:nvPr>
            <p:ph idx="1" type="body"/>
          </p:nvPr>
        </p:nvSpPr>
        <p:spPr>
          <a:xfrm>
            <a:off x="203199" y="986970"/>
            <a:ext cx="5054601" cy="2044988"/>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The VoIP phone is a three port switch:</a:t>
            </a:r>
            <a:endParaRPr/>
          </a:p>
          <a:p>
            <a:pPr indent="-169863" lvl="0" marL="169863" rtl="0" algn="l">
              <a:lnSpc>
                <a:spcPct val="100000"/>
              </a:lnSpc>
              <a:spcBef>
                <a:spcPts val="1200"/>
              </a:spcBef>
              <a:spcAft>
                <a:spcPts val="0"/>
              </a:spcAft>
              <a:buSzPts val="1260"/>
              <a:buFont typeface="Arial"/>
              <a:buChar char="•"/>
            </a:pPr>
            <a:r>
              <a:rPr lang="en-US" sz="1400"/>
              <a:t>The switch will use CDP  to inform the phone of the Voice VLAN.</a:t>
            </a:r>
            <a:endParaRPr/>
          </a:p>
          <a:p>
            <a:pPr indent="-169863" lvl="0" marL="169863" rtl="0" algn="l">
              <a:lnSpc>
                <a:spcPct val="100000"/>
              </a:lnSpc>
              <a:spcBef>
                <a:spcPts val="1200"/>
              </a:spcBef>
              <a:spcAft>
                <a:spcPts val="0"/>
              </a:spcAft>
              <a:buSzPts val="1260"/>
              <a:buFont typeface="Arial"/>
              <a:buChar char="•"/>
            </a:pPr>
            <a:r>
              <a:rPr lang="en-US" sz="1400"/>
              <a:t>The phone will tag its own traffic (Voice) and can set Cost of Service (CoS). CoS is QoS for layer 2.</a:t>
            </a:r>
            <a:endParaRPr/>
          </a:p>
          <a:p>
            <a:pPr indent="-169863" lvl="0" marL="169863" rtl="0" algn="l">
              <a:lnSpc>
                <a:spcPct val="100000"/>
              </a:lnSpc>
              <a:spcBef>
                <a:spcPts val="1200"/>
              </a:spcBef>
              <a:spcAft>
                <a:spcPts val="0"/>
              </a:spcAft>
              <a:buSzPts val="1260"/>
              <a:buFont typeface="Arial"/>
              <a:buChar char="•"/>
            </a:pPr>
            <a:r>
              <a:rPr lang="en-US" sz="1400"/>
              <a:t>The phone may or may not tag frames from the PC.</a:t>
            </a:r>
            <a:endParaRPr/>
          </a:p>
          <a:p>
            <a:pPr indent="0" lvl="0" marL="0" rtl="0" algn="l">
              <a:lnSpc>
                <a:spcPct val="100000"/>
              </a:lnSpc>
              <a:spcBef>
                <a:spcPts val="1200"/>
              </a:spcBef>
              <a:spcAft>
                <a:spcPts val="0"/>
              </a:spcAft>
              <a:buSzPts val="1350"/>
              <a:buNone/>
            </a:pPr>
            <a:r>
              <a:t/>
            </a:r>
            <a:endParaRPr/>
          </a:p>
        </p:txBody>
      </p:sp>
      <p:graphicFrame>
        <p:nvGraphicFramePr>
          <p:cNvPr id="279" name="Google Shape;279;p15"/>
          <p:cNvGraphicFramePr/>
          <p:nvPr/>
        </p:nvGraphicFramePr>
        <p:xfrm>
          <a:off x="449717" y="3061443"/>
          <a:ext cx="3000000" cy="3000000"/>
        </p:xfrm>
        <a:graphic>
          <a:graphicData uri="http://schemas.openxmlformats.org/drawingml/2006/table">
            <a:tbl>
              <a:tblPr bandRow="1" firstRow="1">
                <a:noFill/>
                <a:tableStyleId>{F89C1AF1-62D1-4ADB-A52F-D370BBC66F13}</a:tableStyleId>
              </a:tblPr>
              <a:tblGrid>
                <a:gridCol w="1832575"/>
                <a:gridCol w="6484350"/>
              </a:tblGrid>
              <a:tr h="30247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Traffic</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Tagging Function</a:t>
                      </a:r>
                      <a:endParaRPr sz="1400" u="none" cap="none" strike="noStrike"/>
                    </a:p>
                  </a:txBody>
                  <a:tcPr marT="45725" marB="45725" marR="91450" marL="91450"/>
                </a:tc>
              </a:tr>
              <a:tr h="3235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Voice VLAN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US" sz="1400" u="none" cap="none" strike="noStrike"/>
                        <a:t>tagged with an appropriate Layer 2 class of service (CoS) priority value</a:t>
                      </a:r>
                      <a:endParaRPr sz="1400" u="none" cap="none" strike="noStrike"/>
                    </a:p>
                  </a:txBody>
                  <a:tcPr marT="45725" marB="45725" marR="91450" marL="91450"/>
                </a:tc>
              </a:tr>
              <a:tr h="3338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Access VLAN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US" sz="1400" u="none" cap="none" strike="noStrike"/>
                        <a:t>can also be tagged with a Layer 2 CoS priority value</a:t>
                      </a:r>
                      <a:endParaRPr sz="1400" u="none" cap="none" strike="noStrike"/>
                    </a:p>
                  </a:txBody>
                  <a:tcPr marT="45725" marB="45725" marR="91450" marL="91450"/>
                </a:tc>
              </a:tr>
              <a:tr h="3353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Access VLAN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is not tagged (no Layer 2 CoS priority value)</a:t>
                      </a:r>
                      <a:endParaRPr sz="1400" u="none" cap="none" strike="noStrike"/>
                    </a:p>
                  </a:txBody>
                  <a:tcPr marT="45725" marB="45725" marR="91450" marL="91450"/>
                </a:tc>
              </a:tr>
            </a:tbl>
          </a:graphicData>
        </a:graphic>
      </p:graphicFrame>
      <p:pic>
        <p:nvPicPr>
          <p:cNvPr id="280" name="Google Shape;280;p15"/>
          <p:cNvPicPr preferRelativeResize="0"/>
          <p:nvPr/>
        </p:nvPicPr>
        <p:blipFill rotWithShape="1">
          <a:blip r:embed="rId3">
            <a:alphaModFix/>
          </a:blip>
          <a:srcRect b="0" l="0" r="0" t="0"/>
          <a:stretch/>
        </p:blipFill>
        <p:spPr>
          <a:xfrm>
            <a:off x="5438274" y="503544"/>
            <a:ext cx="3578571" cy="2317373"/>
          </a:xfrm>
          <a:prstGeom prst="rect">
            <a:avLst/>
          </a:prstGeom>
          <a:noFill/>
          <a:ln>
            <a:noFill/>
          </a:ln>
        </p:spPr>
      </p:pic>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8"/>
          <p:cNvSpPr txBox="1"/>
          <p:nvPr>
            <p:ph type="ctrTitle"/>
          </p:nvPr>
        </p:nvSpPr>
        <p:spPr>
          <a:xfrm>
            <a:off x="416425" y="915409"/>
            <a:ext cx="8231464" cy="180239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VLAN Configuration</a:t>
            </a:r>
            <a:endParaRPr/>
          </a:p>
        </p:txBody>
      </p:sp>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9"/>
          <p:cNvSpPr txBox="1"/>
          <p:nvPr>
            <p:ph type="title"/>
          </p:nvPr>
        </p:nvSpPr>
        <p:spPr>
          <a:xfrm>
            <a:off x="0" y="118872"/>
            <a:ext cx="5198533"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VLAN Ranges on Catalyst Switches</a:t>
            </a:r>
            <a:endParaRPr/>
          </a:p>
        </p:txBody>
      </p:sp>
      <p:sp>
        <p:nvSpPr>
          <p:cNvPr id="293" name="Google Shape;293;p19"/>
          <p:cNvSpPr txBox="1"/>
          <p:nvPr>
            <p:ph idx="1" type="body"/>
          </p:nvPr>
        </p:nvSpPr>
        <p:spPr>
          <a:xfrm>
            <a:off x="116633" y="1200665"/>
            <a:ext cx="4738831" cy="627520"/>
          </a:xfrm>
          <a:prstGeom prst="rect">
            <a:avLst/>
          </a:prstGeom>
          <a:noFill/>
          <a:ln>
            <a:noFill/>
          </a:ln>
        </p:spPr>
        <p:txBody>
          <a:bodyPr anchorCtr="0" anchor="t" bIns="45700" lIns="91425" spcFirstLastPara="1" rIns="182875" wrap="square" tIns="45700">
            <a:noAutofit/>
          </a:bodyPr>
          <a:lstStyle/>
          <a:p>
            <a:pPr indent="0" lvl="1" marL="142875" rtl="0" algn="l">
              <a:lnSpc>
                <a:spcPct val="100000"/>
              </a:lnSpc>
              <a:spcBef>
                <a:spcPts val="0"/>
              </a:spcBef>
              <a:spcAft>
                <a:spcPts val="0"/>
              </a:spcAft>
              <a:buSzPts val="1600"/>
              <a:buNone/>
            </a:pPr>
            <a:r>
              <a:rPr lang="en-US" sz="1600"/>
              <a:t>Catalyst switches 2960 and 3650 support over 4000 VLANs.</a:t>
            </a:r>
            <a:endParaRPr/>
          </a:p>
          <a:p>
            <a:pPr indent="0" lvl="1" marL="1428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p:txBody>
      </p:sp>
      <p:graphicFrame>
        <p:nvGraphicFramePr>
          <p:cNvPr id="294" name="Google Shape;294;p19"/>
          <p:cNvGraphicFramePr/>
          <p:nvPr/>
        </p:nvGraphicFramePr>
        <p:xfrm>
          <a:off x="365760" y="2192590"/>
          <a:ext cx="3000000" cy="3000000"/>
        </p:xfrm>
        <a:graphic>
          <a:graphicData uri="http://schemas.openxmlformats.org/drawingml/2006/table">
            <a:tbl>
              <a:tblPr bandRow="1" firstRow="1">
                <a:noFill/>
                <a:tableStyleId>{F89C1AF1-62D1-4ADB-A52F-D370BBC66F13}</a:tableStyleId>
              </a:tblPr>
              <a:tblGrid>
                <a:gridCol w="4417325"/>
                <a:gridCol w="4178050"/>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Normal Range VLAN 1 – 1005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Extended Range VLAN 1006 - 4095</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Used in Small to Medium sized businesses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Used by Service Providers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1002 – 1005 are reserved for legacy VLANs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Are in Running-Config</a:t>
                      </a:r>
                      <a:endParaRPr sz="16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1, 1002 – 1005 are auto created and cannot be deleted</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Supports fewer VLAN features</a:t>
                      </a:r>
                      <a:endParaRPr sz="16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Stored in the vlan.dat file in flash</a:t>
                      </a:r>
                      <a:endParaRPr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Requires VTP configurations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VTP can synchronize between switches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45725" marB="45725" marR="91450" marL="91450"/>
                </a:tc>
              </a:tr>
            </a:tbl>
          </a:graphicData>
        </a:graphic>
      </p:graphicFrame>
      <p:pic>
        <p:nvPicPr>
          <p:cNvPr id="295" name="Google Shape;295;p19"/>
          <p:cNvPicPr preferRelativeResize="0"/>
          <p:nvPr/>
        </p:nvPicPr>
        <p:blipFill rotWithShape="1">
          <a:blip r:embed="rId3">
            <a:alphaModFix/>
          </a:blip>
          <a:srcRect b="0" l="0" r="0" t="0"/>
          <a:stretch/>
        </p:blipFill>
        <p:spPr>
          <a:xfrm>
            <a:off x="5129784" y="118872"/>
            <a:ext cx="3831336" cy="2033555"/>
          </a:xfrm>
          <a:prstGeom prst="rect">
            <a:avLst/>
          </a:prstGeom>
          <a:noFill/>
          <a:ln>
            <a:noFill/>
          </a:ln>
        </p:spPr>
      </p:pic>
    </p:spTree>
  </p:cSld>
  <p:clrMapOvr>
    <a:masterClrMapping/>
  </p:clrMapOvr>
  <p:transition spd="slow">
    <p:wipe dir="l"/>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0"/>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VLAN Creation Commands</a:t>
            </a:r>
            <a:endParaRPr/>
          </a:p>
        </p:txBody>
      </p:sp>
      <p:sp>
        <p:nvSpPr>
          <p:cNvPr id="302" name="Google Shape;302;p20"/>
          <p:cNvSpPr txBox="1"/>
          <p:nvPr>
            <p:ph idx="1" type="body"/>
          </p:nvPr>
        </p:nvSpPr>
        <p:spPr>
          <a:xfrm>
            <a:off x="124426" y="791746"/>
            <a:ext cx="8178325" cy="688137"/>
          </a:xfrm>
          <a:prstGeom prst="rect">
            <a:avLst/>
          </a:prstGeom>
          <a:noFill/>
          <a:ln>
            <a:noFill/>
          </a:ln>
        </p:spPr>
        <p:txBody>
          <a:bodyPr anchorCtr="0" anchor="t" bIns="45700" lIns="91425" spcFirstLastPara="1" rIns="182875" wrap="square" tIns="45700">
            <a:noAutofit/>
          </a:bodyPr>
          <a:lstStyle/>
          <a:p>
            <a:pPr indent="0" lvl="1" marL="142875" rtl="0" algn="l">
              <a:lnSpc>
                <a:spcPct val="100000"/>
              </a:lnSpc>
              <a:spcBef>
                <a:spcPts val="0"/>
              </a:spcBef>
              <a:spcAft>
                <a:spcPts val="0"/>
              </a:spcAft>
              <a:buSzPts val="1600"/>
              <a:buNone/>
            </a:pPr>
            <a:r>
              <a:rPr lang="en-US" sz="1600"/>
              <a:t>VLAN details are stored in the vlan.dat file. You create VLANs in the global configuration mode.</a:t>
            </a:r>
            <a:endParaRPr/>
          </a:p>
        </p:txBody>
      </p:sp>
      <p:graphicFrame>
        <p:nvGraphicFramePr>
          <p:cNvPr id="303" name="Google Shape;303;p20"/>
          <p:cNvGraphicFramePr/>
          <p:nvPr/>
        </p:nvGraphicFramePr>
        <p:xfrm>
          <a:off x="658368" y="1847342"/>
          <a:ext cx="3000000" cy="3000000"/>
        </p:xfrm>
        <a:graphic>
          <a:graphicData uri="http://schemas.openxmlformats.org/drawingml/2006/table">
            <a:tbl>
              <a:tblPr bandRow="1" firstRow="1">
                <a:noFill/>
                <a:tableStyleId>{F89C1AF1-62D1-4ADB-A52F-D370BBC66F13}</a:tableStyleId>
              </a:tblPr>
              <a:tblGrid>
                <a:gridCol w="3822200"/>
                <a:gridCol w="3822200"/>
              </a:tblGrid>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Task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IOS Command</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Enter global configuration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 </a:t>
                      </a:r>
                      <a:r>
                        <a:rPr b="1" lang="en-US" sz="1600" u="none" cap="none" strike="noStrike"/>
                        <a:t>configure terminal</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Create a VLAN with a valid ID number.</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Switch(config)# </a:t>
                      </a:r>
                      <a:r>
                        <a:rPr b="1" lang="en-US" sz="1600" u="none" cap="none" strike="noStrike"/>
                        <a:t>vlan</a:t>
                      </a:r>
                      <a:r>
                        <a:rPr lang="en-US" sz="1600" u="none" cap="none" strike="noStrike"/>
                        <a:t> </a:t>
                      </a:r>
                      <a:r>
                        <a:rPr i="1" lang="en-US" sz="1600" u="none" cap="none" strike="noStrike"/>
                        <a:t>vlan-id</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Specify a unique name to identify the VLAN.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Switch(config-vlan)# </a:t>
                      </a:r>
                      <a:r>
                        <a:rPr b="1" lang="en-US" sz="1600" u="none" cap="none" strike="noStrike"/>
                        <a:t>name</a:t>
                      </a:r>
                      <a:r>
                        <a:rPr lang="en-US" sz="1600" u="none" cap="none" strike="noStrike"/>
                        <a:t> </a:t>
                      </a:r>
                      <a:r>
                        <a:rPr i="1" lang="en-US" sz="1600" u="none" cap="none" strike="noStrike"/>
                        <a:t>vlan-name</a:t>
                      </a:r>
                      <a:endParaRPr sz="1600" u="none" cap="none" strike="noStrike"/>
                    </a:p>
                  </a:txBody>
                  <a:tcPr marT="45725" marB="45725" marR="91450" marL="91450" anchor="ctr"/>
                </a:tc>
              </a:tr>
              <a:tr h="1854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Return to the privileged EXEC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Switch(config-vlan)# </a:t>
                      </a:r>
                      <a:r>
                        <a:rPr b="1" lang="en-US" sz="1600" u="none" cap="none" strike="noStrike"/>
                        <a:t>end</a:t>
                      </a:r>
                      <a:endParaRPr sz="1600" u="none" cap="none" strike="noStrike"/>
                    </a:p>
                  </a:txBody>
                  <a:tcPr marT="45725" marB="45725" marR="91450" marL="91450" anchor="ctr"/>
                </a:tc>
              </a:tr>
              <a:tr h="185425">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Enter global configuration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 </a:t>
                      </a:r>
                      <a:r>
                        <a:rPr b="1" lang="en-US" sz="1600" u="none" cap="none" strike="noStrike"/>
                        <a:t>configure terminal</a:t>
                      </a:r>
                      <a:endParaRPr sz="1600" u="none" cap="none" strike="noStrike"/>
                    </a:p>
                  </a:txBody>
                  <a:tcPr marT="45725" marB="45725" marR="91450" marL="91450" anchor="ctr"/>
                </a:tc>
              </a:tr>
            </a:tbl>
          </a:graphicData>
        </a:graphic>
      </p:graphicFrame>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ph type="title"/>
          </p:nvPr>
        </p:nvSpPr>
        <p:spPr>
          <a:xfrm>
            <a:off x="1" y="41393"/>
            <a:ext cx="4553711"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VLAN Creation Example</a:t>
            </a:r>
            <a:endParaRPr/>
          </a:p>
        </p:txBody>
      </p:sp>
      <p:sp>
        <p:nvSpPr>
          <p:cNvPr id="310" name="Google Shape;310;p21"/>
          <p:cNvSpPr txBox="1"/>
          <p:nvPr>
            <p:ph idx="1" type="body"/>
          </p:nvPr>
        </p:nvSpPr>
        <p:spPr>
          <a:xfrm>
            <a:off x="61788" y="1401347"/>
            <a:ext cx="4416684" cy="1939261"/>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620"/>
              <a:buFont typeface="Arial"/>
              <a:buChar char="•"/>
            </a:pPr>
            <a:r>
              <a:rPr lang="en-US" sz="1800"/>
              <a:t>If the Student PC is going to be in VLAN 20, we will create the VLAN first and then name it.</a:t>
            </a:r>
            <a:endParaRPr/>
          </a:p>
          <a:p>
            <a:pPr indent="-169863" lvl="0" marL="169863" rtl="0" algn="l">
              <a:lnSpc>
                <a:spcPct val="100000"/>
              </a:lnSpc>
              <a:spcBef>
                <a:spcPts val="1200"/>
              </a:spcBef>
              <a:spcAft>
                <a:spcPts val="0"/>
              </a:spcAft>
              <a:buSzPts val="1620"/>
              <a:buFont typeface="Arial"/>
              <a:buChar char="•"/>
            </a:pPr>
            <a:r>
              <a:rPr lang="en-US" sz="1800"/>
              <a:t>If you do not name it, the Cisco IOS will give it a default name of vlan and the four digit number of the VLAN. E.g. vlan0020 for VLAN 20.</a:t>
            </a:r>
            <a:endParaRPr/>
          </a:p>
        </p:txBody>
      </p:sp>
      <p:graphicFrame>
        <p:nvGraphicFramePr>
          <p:cNvPr id="311" name="Google Shape;311;p21"/>
          <p:cNvGraphicFramePr/>
          <p:nvPr/>
        </p:nvGraphicFramePr>
        <p:xfrm>
          <a:off x="4791360" y="2667380"/>
          <a:ext cx="3000000" cy="3000000"/>
        </p:xfrm>
        <a:graphic>
          <a:graphicData uri="http://schemas.openxmlformats.org/drawingml/2006/table">
            <a:tbl>
              <a:tblPr bandRow="1" firstRow="1">
                <a:noFill/>
                <a:tableStyleId>{F89C1AF1-62D1-4ADB-A52F-D370BBC66F13}</a:tableStyleId>
              </a:tblPr>
              <a:tblGrid>
                <a:gridCol w="1915525"/>
                <a:gridCol w="1979900"/>
              </a:tblGrid>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Prompt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Command</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Configure terminal</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vlan 20</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S1(config-vlan)#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name student</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S1(config-vlan)#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end</a:t>
                      </a:r>
                      <a:endParaRPr sz="1400" u="none" cap="none" strike="noStrike"/>
                    </a:p>
                  </a:txBody>
                  <a:tcPr marT="45725" marB="45725" marR="91450" marL="91450"/>
                </a:tc>
              </a:tr>
            </a:tbl>
          </a:graphicData>
        </a:graphic>
      </p:graphicFrame>
      <p:pic>
        <p:nvPicPr>
          <p:cNvPr id="312" name="Google Shape;312;p21"/>
          <p:cNvPicPr preferRelativeResize="0"/>
          <p:nvPr/>
        </p:nvPicPr>
        <p:blipFill rotWithShape="1">
          <a:blip r:embed="rId3">
            <a:alphaModFix/>
          </a:blip>
          <a:srcRect b="0" l="0" r="0" t="0"/>
          <a:stretch/>
        </p:blipFill>
        <p:spPr>
          <a:xfrm>
            <a:off x="4540258" y="109727"/>
            <a:ext cx="4533448" cy="2447925"/>
          </a:xfrm>
          <a:prstGeom prst="rect">
            <a:avLst/>
          </a:prstGeom>
          <a:noFill/>
          <a:ln>
            <a:noFill/>
          </a:ln>
        </p:spPr>
      </p:pic>
    </p:spTree>
  </p:cSld>
  <p:clrMapOvr>
    <a:masterClrMapping/>
  </p:clrMapOvr>
  <p:transition spd="slow">
    <p:wipe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VLAN Port Assignment Commands</a:t>
            </a:r>
            <a:endParaRPr/>
          </a:p>
        </p:txBody>
      </p:sp>
      <p:sp>
        <p:nvSpPr>
          <p:cNvPr id="319" name="Google Shape;319;p22"/>
          <p:cNvSpPr txBox="1"/>
          <p:nvPr>
            <p:ph idx="1" type="body"/>
          </p:nvPr>
        </p:nvSpPr>
        <p:spPr>
          <a:xfrm>
            <a:off x="176260" y="896522"/>
            <a:ext cx="8583692" cy="596998"/>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620"/>
              <a:buNone/>
            </a:pPr>
            <a:r>
              <a:rPr lang="en-US" sz="1800"/>
              <a:t>Once the VLAN is created, we can then assign it to the correct interfaces.</a:t>
            </a:r>
            <a:endParaRPr/>
          </a:p>
          <a:p>
            <a:pPr indent="-127000" lvl="1" marL="358775" rtl="0" algn="l">
              <a:lnSpc>
                <a:spcPct val="100000"/>
              </a:lnSpc>
              <a:spcBef>
                <a:spcPts val="900"/>
              </a:spcBef>
              <a:spcAft>
                <a:spcPts val="0"/>
              </a:spcAft>
              <a:buSzPts val="1400"/>
              <a:buNone/>
            </a:pPr>
            <a:r>
              <a:t/>
            </a:r>
            <a:endParaRPr/>
          </a:p>
        </p:txBody>
      </p:sp>
      <p:graphicFrame>
        <p:nvGraphicFramePr>
          <p:cNvPr id="320" name="Google Shape;320;p22"/>
          <p:cNvGraphicFramePr/>
          <p:nvPr/>
        </p:nvGraphicFramePr>
        <p:xfrm>
          <a:off x="283464" y="1838198"/>
          <a:ext cx="3000000" cy="3000000"/>
        </p:xfrm>
        <a:graphic>
          <a:graphicData uri="http://schemas.openxmlformats.org/drawingml/2006/table">
            <a:tbl>
              <a:tblPr bandRow="1" firstRow="1">
                <a:noFill/>
                <a:tableStyleId>{F89C1AF1-62D1-4ADB-A52F-D370BBC66F13}</a:tableStyleId>
              </a:tblPr>
              <a:tblGrid>
                <a:gridCol w="4238250"/>
                <a:gridCol w="4238250"/>
              </a:tblGrid>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Task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Command</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Enter global configuration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Switch# </a:t>
                      </a:r>
                      <a:r>
                        <a:rPr b="1" lang="en-US" sz="1400" u="none" cap="none" strike="noStrike"/>
                        <a:t>configure terminal</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Enter interface configuration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Switch(config)# </a:t>
                      </a:r>
                      <a:r>
                        <a:rPr b="1" lang="en-US" sz="1400" u="none" cap="none" strike="noStrike"/>
                        <a:t>interface </a:t>
                      </a:r>
                      <a:r>
                        <a:rPr i="1" lang="en-US" sz="1400" u="none" cap="none" strike="noStrike"/>
                        <a:t>interface-id</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Set the port to access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Switch(config-if)# </a:t>
                      </a:r>
                      <a:r>
                        <a:rPr b="1" lang="en-US" sz="1400" u="none" cap="none" strike="noStrike"/>
                        <a:t>switchport mode access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Assign the port to a VLAN.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Switch(config-if)# </a:t>
                      </a:r>
                      <a:r>
                        <a:rPr b="1" lang="en-US" sz="1400" u="none" cap="none" strike="noStrike"/>
                        <a:t>switchport access vlan</a:t>
                      </a:r>
                      <a:r>
                        <a:rPr lang="en-US" sz="1400" u="none" cap="none" strike="noStrike"/>
                        <a:t> </a:t>
                      </a:r>
                      <a:r>
                        <a:rPr i="1" lang="en-US" sz="1400" u="none" cap="none" strike="noStrike"/>
                        <a:t>vlan-id</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Return to the privileged EXEC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Switch(config-if)# </a:t>
                      </a:r>
                      <a:r>
                        <a:rPr b="1" lang="en-US" sz="1400" u="none" cap="none" strike="noStrike"/>
                        <a:t>end</a:t>
                      </a:r>
                      <a:endParaRPr sz="1400" u="none" cap="none" strike="noStrike"/>
                    </a:p>
                  </a:txBody>
                  <a:tcPr marT="45725" marB="45725" marR="91450" marL="91450" anchor="ctr"/>
                </a:tc>
              </a:tr>
            </a:tbl>
          </a:graphicData>
        </a:graphic>
      </p:graphicFrame>
    </p:spTree>
  </p:cSld>
  <p:clrMapOvr>
    <a:masterClrMapping/>
  </p:clrMapOvr>
  <p:transition spd="slow">
    <p:wipe dir="l"/>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3"/>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VLAN Port Assignment Example</a:t>
            </a:r>
            <a:endParaRPr/>
          </a:p>
        </p:txBody>
      </p:sp>
      <p:sp>
        <p:nvSpPr>
          <p:cNvPr id="327" name="Google Shape;327;p23"/>
          <p:cNvSpPr txBox="1"/>
          <p:nvPr>
            <p:ph idx="1" type="body"/>
          </p:nvPr>
        </p:nvSpPr>
        <p:spPr>
          <a:xfrm>
            <a:off x="123574" y="867946"/>
            <a:ext cx="4361340" cy="2942054"/>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620"/>
              <a:buNone/>
            </a:pPr>
            <a:r>
              <a:rPr lang="en-US" sz="1800"/>
              <a:t>We can assign the VLAN to the port interface.</a:t>
            </a:r>
            <a:endParaRPr/>
          </a:p>
          <a:p>
            <a:pPr indent="-169863" lvl="0" marL="169863" rtl="0" algn="l">
              <a:lnSpc>
                <a:spcPct val="100000"/>
              </a:lnSpc>
              <a:spcBef>
                <a:spcPts val="1200"/>
              </a:spcBef>
              <a:spcAft>
                <a:spcPts val="0"/>
              </a:spcAft>
              <a:buSzPts val="1620"/>
              <a:buFont typeface="Arial"/>
              <a:buChar char="•"/>
            </a:pPr>
            <a:r>
              <a:rPr lang="en-US" sz="1800"/>
              <a:t>Once the device is assigned the VLAN, then the end device will need the IP address information for that VLAN</a:t>
            </a:r>
            <a:endParaRPr/>
          </a:p>
          <a:p>
            <a:pPr indent="-169863" lvl="0" marL="169863" rtl="0" algn="l">
              <a:lnSpc>
                <a:spcPct val="100000"/>
              </a:lnSpc>
              <a:spcBef>
                <a:spcPts val="1200"/>
              </a:spcBef>
              <a:spcAft>
                <a:spcPts val="0"/>
              </a:spcAft>
              <a:buSzPts val="1620"/>
              <a:buFont typeface="Arial"/>
              <a:buChar char="•"/>
            </a:pPr>
            <a:r>
              <a:rPr lang="en-US" sz="1800"/>
              <a:t>Here, Student PC receives 172.17.20.22</a:t>
            </a:r>
            <a:endParaRPr sz="1800"/>
          </a:p>
        </p:txBody>
      </p:sp>
      <p:graphicFrame>
        <p:nvGraphicFramePr>
          <p:cNvPr id="328" name="Google Shape;328;p23"/>
          <p:cNvGraphicFramePr/>
          <p:nvPr/>
        </p:nvGraphicFramePr>
        <p:xfrm>
          <a:off x="4572000" y="2546550"/>
          <a:ext cx="3000000" cy="3000000"/>
        </p:xfrm>
        <a:graphic>
          <a:graphicData uri="http://schemas.openxmlformats.org/drawingml/2006/table">
            <a:tbl>
              <a:tblPr bandRow="1" firstRow="1">
                <a:noFill/>
                <a:tableStyleId>{F89C1AF1-62D1-4ADB-A52F-D370BBC66F13}</a:tableStyleId>
              </a:tblPr>
              <a:tblGrid>
                <a:gridCol w="1684875"/>
                <a:gridCol w="2590900"/>
              </a:tblGrid>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Prompt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Command</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Configure terminal</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Interface fa0/18</a:t>
                      </a:r>
                      <a:endParaRPr sz="16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S1(config-if)#</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Switchport mode access</a:t>
                      </a:r>
                      <a:endParaRPr sz="16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S1(config-if)#</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Switchport access vlan 20</a:t>
                      </a:r>
                      <a:endParaRPr sz="16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S1(config-if)#</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end</a:t>
                      </a:r>
                      <a:endParaRPr sz="1400" u="none" cap="none" strike="noStrike"/>
                    </a:p>
                  </a:txBody>
                  <a:tcPr marT="45725" marB="45725" marR="91450" marL="91450"/>
                </a:tc>
              </a:tr>
            </a:tbl>
          </a:graphicData>
        </a:graphic>
      </p:graphicFrame>
      <p:pic>
        <p:nvPicPr>
          <p:cNvPr id="329" name="Google Shape;329;p23"/>
          <p:cNvPicPr preferRelativeResize="0"/>
          <p:nvPr/>
        </p:nvPicPr>
        <p:blipFill rotWithShape="1">
          <a:blip r:embed="rId3">
            <a:alphaModFix/>
          </a:blip>
          <a:srcRect b="0" l="0" r="0" t="0"/>
          <a:stretch/>
        </p:blipFill>
        <p:spPr>
          <a:xfrm>
            <a:off x="5015858" y="146304"/>
            <a:ext cx="3914211" cy="2295335"/>
          </a:xfrm>
          <a:prstGeom prst="rect">
            <a:avLst/>
          </a:prstGeom>
          <a:noFill/>
          <a:ln>
            <a:noFill/>
          </a:ln>
        </p:spPr>
      </p:pic>
    </p:spTree>
  </p:cSld>
  <p:clrMapOvr>
    <a:masterClrMapping/>
  </p:clrMapOvr>
  <p:transition spd="slow">
    <p:wipe dir="l"/>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4"/>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Data and Voice VLANs</a:t>
            </a:r>
            <a:endParaRPr/>
          </a:p>
        </p:txBody>
      </p:sp>
      <p:sp>
        <p:nvSpPr>
          <p:cNvPr id="336" name="Google Shape;336;p24"/>
          <p:cNvSpPr txBox="1"/>
          <p:nvPr>
            <p:ph idx="1" type="body"/>
          </p:nvPr>
        </p:nvSpPr>
        <p:spPr>
          <a:xfrm>
            <a:off x="123574" y="867946"/>
            <a:ext cx="3965826" cy="2891254"/>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620"/>
              <a:buNone/>
            </a:pPr>
            <a:r>
              <a:rPr lang="en-US" sz="1800"/>
              <a:t>An access port may only be assigned to one data VLAN. However it may also be assigned to one Voice VLAN for when a phone and an end device are off of the same switchport.</a:t>
            </a:r>
            <a:endParaRPr/>
          </a:p>
          <a:p>
            <a:pPr indent="0" lvl="0" marL="0" rtl="0" algn="l">
              <a:lnSpc>
                <a:spcPct val="100000"/>
              </a:lnSpc>
              <a:spcBef>
                <a:spcPts val="1200"/>
              </a:spcBef>
              <a:spcAft>
                <a:spcPts val="0"/>
              </a:spcAft>
              <a:buSzPts val="1440"/>
              <a:buNone/>
            </a:pPr>
            <a:r>
              <a:t/>
            </a:r>
            <a:endParaRPr sz="1600"/>
          </a:p>
        </p:txBody>
      </p:sp>
      <p:pic>
        <p:nvPicPr>
          <p:cNvPr id="337" name="Google Shape;337;p24"/>
          <p:cNvPicPr preferRelativeResize="0"/>
          <p:nvPr/>
        </p:nvPicPr>
        <p:blipFill rotWithShape="1">
          <a:blip r:embed="rId3">
            <a:alphaModFix/>
          </a:blip>
          <a:srcRect b="0" l="0" r="0" t="0"/>
          <a:stretch/>
        </p:blipFill>
        <p:spPr>
          <a:xfrm>
            <a:off x="4698265" y="1152144"/>
            <a:ext cx="4222849" cy="2688908"/>
          </a:xfrm>
          <a:prstGeom prst="rect">
            <a:avLst/>
          </a:prstGeom>
          <a:noFill/>
          <a:ln>
            <a:noFill/>
          </a:ln>
        </p:spPr>
      </p:pic>
    </p:spTree>
  </p:cSld>
  <p:clrMapOvr>
    <a:masterClrMapping/>
  </p:clrMapOvr>
  <p:transition spd="slow">
    <p:wipe dir="l"/>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Data and Voice VLAN Example</a:t>
            </a:r>
            <a:endParaRPr/>
          </a:p>
        </p:txBody>
      </p:sp>
      <p:sp>
        <p:nvSpPr>
          <p:cNvPr id="344" name="Google Shape;344;p25"/>
          <p:cNvSpPr txBox="1"/>
          <p:nvPr>
            <p:ph idx="1" type="body"/>
          </p:nvPr>
        </p:nvSpPr>
        <p:spPr>
          <a:xfrm>
            <a:off x="123574" y="867946"/>
            <a:ext cx="4558916" cy="3512030"/>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We will want to create and name both Voice and Data VLANs.</a:t>
            </a:r>
            <a:endParaRPr/>
          </a:p>
          <a:p>
            <a:pPr indent="-169863" lvl="0" marL="169863" rtl="0" algn="l">
              <a:lnSpc>
                <a:spcPct val="100000"/>
              </a:lnSpc>
              <a:spcBef>
                <a:spcPts val="1200"/>
              </a:spcBef>
              <a:spcAft>
                <a:spcPts val="0"/>
              </a:spcAft>
              <a:buSzPts val="1440"/>
              <a:buFont typeface="Arial"/>
              <a:buChar char="•"/>
            </a:pPr>
            <a:r>
              <a:rPr lang="en-US" sz="1600"/>
              <a:t>In addition to assigning the data VLAN, we will also assign the Voice VLAN and turn on QoS for the voice traffic to the interface.</a:t>
            </a:r>
            <a:endParaRPr/>
          </a:p>
          <a:p>
            <a:pPr indent="-169863" lvl="0" marL="169863" rtl="0" algn="l">
              <a:lnSpc>
                <a:spcPct val="100000"/>
              </a:lnSpc>
              <a:spcBef>
                <a:spcPts val="1200"/>
              </a:spcBef>
              <a:spcAft>
                <a:spcPts val="0"/>
              </a:spcAft>
              <a:buSzPts val="1440"/>
              <a:buFont typeface="Arial"/>
              <a:buChar char="•"/>
            </a:pPr>
            <a:r>
              <a:rPr lang="en-US" sz="1600"/>
              <a:t>The newer catalyst switch will automatically create the VLAN, if it does not already exist, when it is assigned to an interface.</a:t>
            </a:r>
            <a:endParaRPr/>
          </a:p>
          <a:p>
            <a:pPr indent="0" lvl="0" marL="0" rtl="0" algn="l">
              <a:lnSpc>
                <a:spcPct val="100000"/>
              </a:lnSpc>
              <a:spcBef>
                <a:spcPts val="1200"/>
              </a:spcBef>
              <a:spcAft>
                <a:spcPts val="0"/>
              </a:spcAft>
              <a:buSzPts val="1440"/>
              <a:buNone/>
            </a:pPr>
            <a:r>
              <a:rPr b="1" lang="en-US" sz="1600"/>
              <a:t>Note</a:t>
            </a:r>
            <a:r>
              <a:rPr lang="en-US" sz="1600"/>
              <a:t>: QoS is beyond the scope of this course. Here we do show the use of the </a:t>
            </a:r>
            <a:r>
              <a:rPr b="1" lang="en-US" sz="1600"/>
              <a:t>mls qos trust [cos | device cisco-phone | dscp | ip-precedence] </a:t>
            </a:r>
            <a:r>
              <a:rPr lang="en-US" sz="1600"/>
              <a:t>command.</a:t>
            </a:r>
            <a:endParaRPr sz="1600"/>
          </a:p>
        </p:txBody>
      </p:sp>
      <p:pic>
        <p:nvPicPr>
          <p:cNvPr id="345" name="Google Shape;345;p25"/>
          <p:cNvPicPr preferRelativeResize="0"/>
          <p:nvPr/>
        </p:nvPicPr>
        <p:blipFill rotWithShape="1">
          <a:blip r:embed="rId3">
            <a:alphaModFix/>
          </a:blip>
          <a:srcRect b="0" l="0" r="0" t="0"/>
          <a:stretch/>
        </p:blipFill>
        <p:spPr>
          <a:xfrm>
            <a:off x="4892802" y="996315"/>
            <a:ext cx="4076700" cy="1962150"/>
          </a:xfrm>
          <a:prstGeom prst="rect">
            <a:avLst/>
          </a:prstGeom>
          <a:noFill/>
          <a:ln>
            <a:noFill/>
          </a:ln>
        </p:spPr>
      </p:pic>
      <p:pic>
        <p:nvPicPr>
          <p:cNvPr id="346" name="Google Shape;346;p25"/>
          <p:cNvPicPr preferRelativeResize="0"/>
          <p:nvPr/>
        </p:nvPicPr>
        <p:blipFill rotWithShape="1">
          <a:blip r:embed="rId4">
            <a:alphaModFix/>
          </a:blip>
          <a:srcRect b="0" l="0" r="0" t="0"/>
          <a:stretch/>
        </p:blipFill>
        <p:spPr>
          <a:xfrm>
            <a:off x="4892802" y="3367278"/>
            <a:ext cx="4076700" cy="352425"/>
          </a:xfrm>
          <a:prstGeom prst="rect">
            <a:avLst/>
          </a:prstGeom>
          <a:noFill/>
          <a:ln>
            <a:noFill/>
          </a:ln>
        </p:spPr>
      </p:pic>
    </p:spTree>
  </p:cSld>
  <p:clrMapOvr>
    <a:masterClrMapping/>
  </p:clrMapOvr>
  <p:transition spd="slow">
    <p:wipe dir="l"/>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6"/>
          <p:cNvSpPr txBox="1"/>
          <p:nvPr>
            <p:ph type="title"/>
          </p:nvPr>
        </p:nvSpPr>
        <p:spPr>
          <a:xfrm>
            <a:off x="1" y="41393"/>
            <a:ext cx="3447287"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Verify VLAN Information</a:t>
            </a:r>
            <a:endParaRPr/>
          </a:p>
        </p:txBody>
      </p:sp>
      <p:sp>
        <p:nvSpPr>
          <p:cNvPr id="353" name="Google Shape;353;p26"/>
          <p:cNvSpPr txBox="1"/>
          <p:nvPr>
            <p:ph idx="1" type="body"/>
          </p:nvPr>
        </p:nvSpPr>
        <p:spPr>
          <a:xfrm>
            <a:off x="123574" y="867946"/>
            <a:ext cx="3552314" cy="1518638"/>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Use the </a:t>
            </a:r>
            <a:r>
              <a:rPr b="1" lang="en-US" sz="1600"/>
              <a:t>show vlan </a:t>
            </a:r>
            <a:r>
              <a:rPr lang="en-US" sz="1600"/>
              <a:t>command. The complete syntax is: </a:t>
            </a:r>
            <a:endParaRPr/>
          </a:p>
          <a:p>
            <a:pPr indent="0" lvl="0" marL="0" rtl="0" algn="l">
              <a:lnSpc>
                <a:spcPct val="100000"/>
              </a:lnSpc>
              <a:spcBef>
                <a:spcPts val="1200"/>
              </a:spcBef>
              <a:spcAft>
                <a:spcPts val="0"/>
              </a:spcAft>
              <a:buSzPts val="1440"/>
              <a:buNone/>
            </a:pPr>
            <a:r>
              <a:rPr b="1" lang="en-US" sz="1600"/>
              <a:t>show vlan [brief</a:t>
            </a:r>
            <a:r>
              <a:rPr lang="en-US" sz="1600"/>
              <a:t> | </a:t>
            </a:r>
            <a:r>
              <a:rPr b="1" lang="en-US" sz="1600"/>
              <a:t>id</a:t>
            </a:r>
            <a:r>
              <a:rPr lang="en-US" sz="1600"/>
              <a:t> </a:t>
            </a:r>
            <a:r>
              <a:rPr i="1" lang="en-US" sz="1600"/>
              <a:t>vlan-id</a:t>
            </a:r>
            <a:r>
              <a:rPr lang="en-US" sz="1600"/>
              <a:t> | </a:t>
            </a:r>
            <a:r>
              <a:rPr b="1" lang="en-US" sz="1600"/>
              <a:t>name</a:t>
            </a:r>
            <a:r>
              <a:rPr lang="en-US" sz="1600"/>
              <a:t> </a:t>
            </a:r>
            <a:r>
              <a:rPr i="1" lang="en-US" sz="1600"/>
              <a:t>vlan-name</a:t>
            </a:r>
            <a:r>
              <a:rPr lang="en-US" sz="1600"/>
              <a:t> | </a:t>
            </a:r>
            <a:r>
              <a:rPr b="1" lang="en-US" sz="1600"/>
              <a:t>summary</a:t>
            </a:r>
            <a:r>
              <a:rPr lang="en-US" sz="1600"/>
              <a:t>]</a:t>
            </a:r>
            <a:endParaRPr sz="1600"/>
          </a:p>
        </p:txBody>
      </p:sp>
      <p:graphicFrame>
        <p:nvGraphicFramePr>
          <p:cNvPr id="354" name="Google Shape;354;p26"/>
          <p:cNvGraphicFramePr/>
          <p:nvPr/>
        </p:nvGraphicFramePr>
        <p:xfrm>
          <a:off x="246888" y="2533142"/>
          <a:ext cx="3000000" cy="3000000"/>
        </p:xfrm>
        <a:graphic>
          <a:graphicData uri="http://schemas.openxmlformats.org/drawingml/2006/table">
            <a:tbl>
              <a:tblPr bandRow="1" firstRow="1">
                <a:noFill/>
                <a:tableStyleId>{F89C1AF1-62D1-4ADB-A52F-D370BBC66F13}</a:tableStyleId>
              </a:tblPr>
              <a:tblGrid>
                <a:gridCol w="6373375"/>
                <a:gridCol w="2283900"/>
              </a:tblGrid>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Task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Command Option</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Display VLAN name, status, and its ports one VLAN per line.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brief</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Display information about the identified VLAN ID number.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id</a:t>
                      </a:r>
                      <a:r>
                        <a:rPr lang="en-US" sz="1600" u="none" cap="none" strike="noStrike"/>
                        <a:t> </a:t>
                      </a:r>
                      <a:r>
                        <a:rPr i="1" lang="en-US" sz="1600" u="none" cap="none" strike="noStrike"/>
                        <a:t>vlan-id</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Display information about the identified VLAN name. The </a:t>
                      </a:r>
                      <a:r>
                        <a:rPr i="1" lang="en-US" sz="1600" u="none" cap="none" strike="noStrike"/>
                        <a:t>vlan-name</a:t>
                      </a:r>
                      <a:r>
                        <a:rPr lang="en-US" sz="1600" u="none" cap="none" strike="noStrike"/>
                        <a:t> is an ASCII string from 1 to 32 characters.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name</a:t>
                      </a:r>
                      <a:r>
                        <a:rPr lang="en-US" sz="1600" u="none" cap="none" strike="noStrike"/>
                        <a:t> </a:t>
                      </a:r>
                      <a:r>
                        <a:rPr i="1" lang="en-US" sz="1600" u="none" cap="none" strike="noStrike"/>
                        <a:t>vlan-name</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Display VLAN summary information.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summary</a:t>
                      </a:r>
                      <a:endParaRPr sz="1600" u="none" cap="none" strike="noStrike"/>
                    </a:p>
                  </a:txBody>
                  <a:tcPr marT="45725" marB="45725" marR="91450" marL="91450" anchor="ctr"/>
                </a:tc>
              </a:tr>
            </a:tbl>
          </a:graphicData>
        </a:graphic>
      </p:graphicFrame>
      <p:pic>
        <p:nvPicPr>
          <p:cNvPr id="355" name="Google Shape;355;p26"/>
          <p:cNvPicPr preferRelativeResize="0"/>
          <p:nvPr/>
        </p:nvPicPr>
        <p:blipFill rotWithShape="1">
          <a:blip r:embed="rId3">
            <a:alphaModFix/>
          </a:blip>
          <a:srcRect b="0" l="0" r="0" t="0"/>
          <a:stretch/>
        </p:blipFill>
        <p:spPr>
          <a:xfrm>
            <a:off x="3858769" y="164592"/>
            <a:ext cx="5045393" cy="742951"/>
          </a:xfrm>
          <a:prstGeom prst="rect">
            <a:avLst/>
          </a:prstGeom>
          <a:noFill/>
          <a:ln>
            <a:noFill/>
          </a:ln>
        </p:spPr>
      </p:pic>
      <p:pic>
        <p:nvPicPr>
          <p:cNvPr id="356" name="Google Shape;356;p26"/>
          <p:cNvPicPr preferRelativeResize="0"/>
          <p:nvPr/>
        </p:nvPicPr>
        <p:blipFill rotWithShape="1">
          <a:blip r:embed="rId4">
            <a:alphaModFix/>
          </a:blip>
          <a:srcRect b="0" l="0" r="0" t="0"/>
          <a:stretch/>
        </p:blipFill>
        <p:spPr>
          <a:xfrm>
            <a:off x="3858769" y="1082744"/>
            <a:ext cx="5045393" cy="1331779"/>
          </a:xfrm>
          <a:prstGeom prst="rect">
            <a:avLst/>
          </a:prstGeom>
          <a:noFill/>
          <a:ln>
            <a:noFill/>
          </a:ln>
        </p:spPr>
      </p:pic>
    </p:spTree>
  </p:cSld>
  <p:clrMapOvr>
    <a:masterClrMapping/>
  </p:clrMapOvr>
  <p:transition spd="slow">
    <p:wipe dir="l"/>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7"/>
          <p:cNvSpPr txBox="1"/>
          <p:nvPr>
            <p:ph type="title"/>
          </p:nvPr>
        </p:nvSpPr>
        <p:spPr>
          <a:xfrm>
            <a:off x="1" y="41393"/>
            <a:ext cx="4604517"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Change VLAN Port Membership</a:t>
            </a:r>
            <a:endParaRPr/>
          </a:p>
        </p:txBody>
      </p:sp>
      <p:sp>
        <p:nvSpPr>
          <p:cNvPr id="363" name="Google Shape;363;p27"/>
          <p:cNvSpPr txBox="1"/>
          <p:nvPr>
            <p:ph idx="1" type="body"/>
          </p:nvPr>
        </p:nvSpPr>
        <p:spPr>
          <a:xfrm>
            <a:off x="121589" y="1062680"/>
            <a:ext cx="4361340" cy="2890238"/>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There are a number of ways to change VLAN membership:</a:t>
            </a:r>
            <a:endParaRPr/>
          </a:p>
          <a:p>
            <a:pPr indent="-169863" lvl="0" marL="169863" rtl="0" algn="l">
              <a:lnSpc>
                <a:spcPct val="100000"/>
              </a:lnSpc>
              <a:spcBef>
                <a:spcPts val="1200"/>
              </a:spcBef>
              <a:spcAft>
                <a:spcPts val="0"/>
              </a:spcAft>
              <a:buSzPts val="1440"/>
              <a:buFont typeface="Arial"/>
              <a:buChar char="•"/>
            </a:pPr>
            <a:r>
              <a:rPr lang="en-US" sz="1600"/>
              <a:t>re-enter </a:t>
            </a:r>
            <a:r>
              <a:rPr b="1" lang="en-US" sz="1600"/>
              <a:t>switchport access vlan</a:t>
            </a:r>
            <a:r>
              <a:rPr lang="en-US" sz="1600"/>
              <a:t> </a:t>
            </a:r>
            <a:r>
              <a:rPr i="1" lang="en-US" sz="1600"/>
              <a:t>vlan-id </a:t>
            </a:r>
            <a:r>
              <a:rPr lang="en-US" sz="1600"/>
              <a:t>command</a:t>
            </a:r>
            <a:endParaRPr/>
          </a:p>
          <a:p>
            <a:pPr indent="-169863" lvl="0" marL="169863" rtl="0" algn="l">
              <a:lnSpc>
                <a:spcPct val="100000"/>
              </a:lnSpc>
              <a:spcBef>
                <a:spcPts val="1200"/>
              </a:spcBef>
              <a:spcAft>
                <a:spcPts val="0"/>
              </a:spcAft>
              <a:buSzPts val="1440"/>
              <a:buFont typeface="Arial"/>
              <a:buChar char="•"/>
            </a:pPr>
            <a:r>
              <a:rPr lang="en-US" sz="1600"/>
              <a:t>use the </a:t>
            </a:r>
            <a:r>
              <a:rPr b="1" lang="en-US" sz="1600"/>
              <a:t>no switchport access vlan </a:t>
            </a:r>
            <a:r>
              <a:rPr lang="en-US" sz="1600"/>
              <a:t>to place interface back in VLAN 1</a:t>
            </a:r>
            <a:endParaRPr/>
          </a:p>
          <a:p>
            <a:pPr indent="0" lvl="0" marL="0" rtl="0" algn="l">
              <a:lnSpc>
                <a:spcPct val="100000"/>
              </a:lnSpc>
              <a:spcBef>
                <a:spcPts val="1200"/>
              </a:spcBef>
              <a:spcAft>
                <a:spcPts val="0"/>
              </a:spcAft>
              <a:buSzPts val="1440"/>
              <a:buNone/>
            </a:pPr>
            <a:r>
              <a:rPr lang="en-US" sz="1600"/>
              <a:t>Use the </a:t>
            </a:r>
            <a:r>
              <a:rPr b="1" lang="en-US" sz="1600"/>
              <a:t>show vlan brief </a:t>
            </a:r>
            <a:r>
              <a:rPr lang="en-US" sz="1600"/>
              <a:t>or the </a:t>
            </a:r>
            <a:r>
              <a:rPr b="1" lang="en-US" sz="1600"/>
              <a:t>show interface fa0/18 switchport</a:t>
            </a:r>
            <a:r>
              <a:rPr lang="en-US" sz="1600"/>
              <a:t> commands to verify the correct VLAN association.</a:t>
            </a:r>
            <a:endParaRPr sz="1600"/>
          </a:p>
        </p:txBody>
      </p:sp>
      <p:pic>
        <p:nvPicPr>
          <p:cNvPr id="364" name="Google Shape;364;p27"/>
          <p:cNvPicPr preferRelativeResize="0"/>
          <p:nvPr/>
        </p:nvPicPr>
        <p:blipFill rotWithShape="1">
          <a:blip r:embed="rId3">
            <a:alphaModFix/>
          </a:blip>
          <a:srcRect b="0" l="0" r="0" t="0"/>
          <a:stretch/>
        </p:blipFill>
        <p:spPr>
          <a:xfrm>
            <a:off x="4668526" y="188595"/>
            <a:ext cx="4370509" cy="2666238"/>
          </a:xfrm>
          <a:prstGeom prst="rect">
            <a:avLst/>
          </a:prstGeom>
          <a:noFill/>
          <a:ln>
            <a:noFill/>
          </a:ln>
        </p:spPr>
      </p:pic>
      <p:pic>
        <p:nvPicPr>
          <p:cNvPr id="365" name="Google Shape;365;p27"/>
          <p:cNvPicPr preferRelativeResize="0"/>
          <p:nvPr/>
        </p:nvPicPr>
        <p:blipFill rotWithShape="1">
          <a:blip r:embed="rId4">
            <a:alphaModFix/>
          </a:blip>
          <a:srcRect b="0" l="0" r="0" t="0"/>
          <a:stretch/>
        </p:blipFill>
        <p:spPr>
          <a:xfrm>
            <a:off x="4896392" y="2962529"/>
            <a:ext cx="3914775" cy="1847850"/>
          </a:xfrm>
          <a:prstGeom prst="rect">
            <a:avLst/>
          </a:prstGeom>
          <a:noFill/>
          <a:ln>
            <a:noFill/>
          </a:ln>
        </p:spPr>
      </p:pic>
    </p:spTree>
  </p:cSld>
  <p:clrMapOvr>
    <a:masterClrMapping/>
  </p:clrMapOvr>
  <p:transition spd="slow">
    <p:wipe dir="l"/>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8"/>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Configuration</a:t>
            </a:r>
            <a:br>
              <a:rPr lang="en-US"/>
            </a:br>
            <a:r>
              <a:rPr lang="en-US"/>
              <a:t>Delete VLANs</a:t>
            </a:r>
            <a:endParaRPr/>
          </a:p>
        </p:txBody>
      </p:sp>
      <p:sp>
        <p:nvSpPr>
          <p:cNvPr id="372" name="Google Shape;372;p28"/>
          <p:cNvSpPr txBox="1"/>
          <p:nvPr>
            <p:ph idx="1" type="body"/>
          </p:nvPr>
        </p:nvSpPr>
        <p:spPr>
          <a:xfrm>
            <a:off x="123574" y="867946"/>
            <a:ext cx="8672954" cy="2588485"/>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Delete VLANs with the </a:t>
            </a:r>
            <a:r>
              <a:rPr b="1" lang="en-US" sz="1600"/>
              <a:t>no vlan </a:t>
            </a:r>
            <a:r>
              <a:rPr i="1" lang="en-US" sz="1600"/>
              <a:t>vlan-id</a:t>
            </a:r>
            <a:r>
              <a:rPr lang="en-US" sz="1600" u="sng"/>
              <a:t> </a:t>
            </a:r>
            <a:r>
              <a:rPr lang="en-US" sz="1600"/>
              <a:t>command.</a:t>
            </a:r>
            <a:endParaRPr/>
          </a:p>
          <a:p>
            <a:pPr indent="0" lvl="0" marL="0" rtl="0" algn="l">
              <a:lnSpc>
                <a:spcPct val="100000"/>
              </a:lnSpc>
              <a:spcBef>
                <a:spcPts val="1200"/>
              </a:spcBef>
              <a:spcAft>
                <a:spcPts val="0"/>
              </a:spcAft>
              <a:buSzPts val="1440"/>
              <a:buNone/>
            </a:pPr>
            <a:r>
              <a:rPr b="1" lang="en-US" sz="1600"/>
              <a:t>Caution</a:t>
            </a:r>
            <a:r>
              <a:rPr lang="en-US" sz="1600"/>
              <a:t>: Before deleting a VLAN, reassign all member ports to a different VLAN.</a:t>
            </a:r>
            <a:endParaRPr/>
          </a:p>
          <a:p>
            <a:pPr indent="-169863" lvl="0" marL="169863" rtl="0" algn="l">
              <a:lnSpc>
                <a:spcPct val="100000"/>
              </a:lnSpc>
              <a:spcBef>
                <a:spcPts val="1200"/>
              </a:spcBef>
              <a:spcAft>
                <a:spcPts val="0"/>
              </a:spcAft>
              <a:buSzPts val="1440"/>
              <a:buFont typeface="Arial"/>
              <a:buChar char="•"/>
            </a:pPr>
            <a:r>
              <a:rPr lang="en-US" sz="1600"/>
              <a:t>Delete all VLANs with the </a:t>
            </a:r>
            <a:r>
              <a:rPr b="1" lang="en-US" sz="1600"/>
              <a:t>delete flash:vlan.dat </a:t>
            </a:r>
            <a:r>
              <a:rPr lang="en-US" sz="1600"/>
              <a:t>or </a:t>
            </a:r>
            <a:r>
              <a:rPr b="1" lang="en-US" sz="1600"/>
              <a:t>delete vlan.dat </a:t>
            </a:r>
            <a:r>
              <a:rPr lang="en-US" sz="1600"/>
              <a:t>commands.</a:t>
            </a:r>
            <a:endParaRPr/>
          </a:p>
          <a:p>
            <a:pPr indent="-169863" lvl="0" marL="169863" rtl="0" algn="l">
              <a:lnSpc>
                <a:spcPct val="100000"/>
              </a:lnSpc>
              <a:spcBef>
                <a:spcPts val="1200"/>
              </a:spcBef>
              <a:spcAft>
                <a:spcPts val="0"/>
              </a:spcAft>
              <a:buSzPts val="1440"/>
              <a:buFont typeface="Arial"/>
              <a:buChar char="•"/>
            </a:pPr>
            <a:r>
              <a:rPr lang="en-US" sz="1600"/>
              <a:t>Reload the switch when deleting all VLANs.</a:t>
            </a:r>
            <a:endParaRPr/>
          </a:p>
          <a:p>
            <a:pPr indent="0" lvl="0" marL="0" rtl="0" algn="l">
              <a:lnSpc>
                <a:spcPct val="100000"/>
              </a:lnSpc>
              <a:spcBef>
                <a:spcPts val="1200"/>
              </a:spcBef>
              <a:spcAft>
                <a:spcPts val="0"/>
              </a:spcAft>
              <a:buSzPts val="1440"/>
              <a:buNone/>
            </a:pPr>
            <a:r>
              <a:rPr b="1" lang="en-US" sz="1600"/>
              <a:t>Note</a:t>
            </a:r>
            <a:r>
              <a:rPr lang="en-US" sz="1600"/>
              <a:t>: To restore to factory default – unplug all data cables, erase the startup-configuration and delete the vlan.dat file, then reload the device.</a:t>
            </a:r>
            <a:endParaRPr/>
          </a:p>
        </p:txBody>
      </p:sp>
    </p:spTree>
  </p:cSld>
  <p:clrMapOvr>
    <a:masterClrMapping/>
  </p:clrMapOvr>
  <p:transition spd="slow">
    <p:wipe dir="l"/>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0"/>
          <p:cNvSpPr txBox="1"/>
          <p:nvPr>
            <p:ph type="ctrTitle"/>
          </p:nvPr>
        </p:nvSpPr>
        <p:spPr>
          <a:xfrm>
            <a:off x="416425" y="915409"/>
            <a:ext cx="8231464" cy="180239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VLAN Trunks</a:t>
            </a:r>
            <a:endParaRPr/>
          </a:p>
        </p:txBody>
      </p:sp>
    </p:spTree>
  </p:cSld>
  <p:clrMapOvr>
    <a:masterClrMapping/>
  </p:clrMapOvr>
  <p:transition spd="slow">
    <p:wipe dir="l"/>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1"/>
          <p:cNvSpPr txBox="1"/>
          <p:nvPr>
            <p:ph type="title"/>
          </p:nvPr>
        </p:nvSpPr>
        <p:spPr>
          <a:xfrm>
            <a:off x="0" y="1"/>
            <a:ext cx="9144000" cy="6766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Trunks</a:t>
            </a:r>
            <a:br>
              <a:rPr lang="en-US" sz="1600"/>
            </a:br>
            <a:r>
              <a:rPr lang="en-US"/>
              <a:t>Trunk Configuration Commands</a:t>
            </a:r>
            <a:endParaRPr/>
          </a:p>
        </p:txBody>
      </p:sp>
      <p:sp>
        <p:nvSpPr>
          <p:cNvPr id="385" name="Google Shape;385;p31"/>
          <p:cNvSpPr txBox="1"/>
          <p:nvPr>
            <p:ph idx="1" type="body"/>
          </p:nvPr>
        </p:nvSpPr>
        <p:spPr>
          <a:xfrm>
            <a:off x="201168" y="872067"/>
            <a:ext cx="8805672" cy="56354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Configure and verify VLAN trunks. Trunks are layer 2 and carry traffic for all VLANs.</a:t>
            </a:r>
            <a:endParaRPr/>
          </a:p>
        </p:txBody>
      </p:sp>
      <p:graphicFrame>
        <p:nvGraphicFramePr>
          <p:cNvPr id="386" name="Google Shape;386;p31"/>
          <p:cNvGraphicFramePr/>
          <p:nvPr/>
        </p:nvGraphicFramePr>
        <p:xfrm>
          <a:off x="182880" y="1573022"/>
          <a:ext cx="3000000" cy="3000000"/>
        </p:xfrm>
        <a:graphic>
          <a:graphicData uri="http://schemas.openxmlformats.org/drawingml/2006/table">
            <a:tbl>
              <a:tblPr bandRow="1" firstRow="1">
                <a:noFill/>
                <a:tableStyleId>{F89C1AF1-62D1-4ADB-A52F-D370BBC66F13}</a:tableStyleId>
              </a:tblPr>
              <a:tblGrid>
                <a:gridCol w="4123950"/>
                <a:gridCol w="4636000"/>
              </a:tblGrid>
              <a:tr h="370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Task</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IOS Command</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Enter global configuration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 </a:t>
                      </a:r>
                      <a:r>
                        <a:rPr b="1" lang="en-US" sz="1600" u="none" cap="none" strike="noStrike"/>
                        <a:t>configure terminal</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Enter interface configuration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Switch(config)# </a:t>
                      </a:r>
                      <a:r>
                        <a:rPr b="1" lang="en-US" sz="1600" u="none" cap="none" strike="noStrike"/>
                        <a:t>interface </a:t>
                      </a:r>
                      <a:r>
                        <a:rPr i="1" lang="en-US" sz="1600" u="none" cap="none" strike="noStrike"/>
                        <a:t>interface-id</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Set the port to permanent trunking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Switch(config-if)# </a:t>
                      </a:r>
                      <a:r>
                        <a:rPr b="1" lang="en-US" sz="1600" u="none" cap="none" strike="noStrike"/>
                        <a:t>switchport mode trunk</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Sets the native VLAN to something other than VLAN 1.</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Switch(config-if)# </a:t>
                      </a:r>
                      <a:r>
                        <a:rPr b="1" lang="en-US" sz="1600" u="none" cap="none" strike="noStrike"/>
                        <a:t>switchport trunk native vlan </a:t>
                      </a:r>
                      <a:r>
                        <a:rPr i="1" lang="en-US" sz="1600" u="none" cap="none" strike="noStrike"/>
                        <a:t>vlan-id</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Specify the list of VLANs to be allowed on the trunk link.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Switch(config-if)# </a:t>
                      </a:r>
                      <a:r>
                        <a:rPr b="1" lang="en-US" sz="1600" u="none" cap="none" strike="noStrike"/>
                        <a:t>switchport trunk allowed vlan </a:t>
                      </a:r>
                      <a:r>
                        <a:rPr i="1" lang="en-US" sz="1600" u="none" cap="none" strike="noStrike"/>
                        <a:t>vlan-list</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Return to the privileged EXEC mode.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Switch(config-if)# </a:t>
                      </a:r>
                      <a:r>
                        <a:rPr b="1" lang="en-US" sz="1600" u="none" cap="none" strike="noStrike"/>
                        <a:t>end</a:t>
                      </a:r>
                      <a:endParaRPr sz="1600" u="none" cap="none" strike="noStrike"/>
                    </a:p>
                  </a:txBody>
                  <a:tcPr marT="45725" marB="45725" marR="91450" marL="91450" anchor="ctr"/>
                </a:tc>
              </a:tr>
            </a:tbl>
          </a:graphicData>
        </a:graphic>
      </p:graphicFrame>
    </p:spTree>
  </p:cSld>
  <p:clrMapOvr>
    <a:masterClrMapping/>
  </p:clrMapOvr>
  <p:transition spd="slow">
    <p:wipe dir="l"/>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2"/>
          <p:cNvSpPr txBox="1"/>
          <p:nvPr>
            <p:ph type="title"/>
          </p:nvPr>
        </p:nvSpPr>
        <p:spPr>
          <a:xfrm>
            <a:off x="1" y="0"/>
            <a:ext cx="4340351"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Trunks</a:t>
            </a:r>
            <a:br>
              <a:rPr lang="en-US" sz="1600"/>
            </a:br>
            <a:r>
              <a:rPr lang="en-US"/>
              <a:t>Trunk Configuration Example</a:t>
            </a:r>
            <a:endParaRPr/>
          </a:p>
        </p:txBody>
      </p:sp>
      <p:sp>
        <p:nvSpPr>
          <p:cNvPr id="393" name="Google Shape;393;p32"/>
          <p:cNvSpPr txBox="1"/>
          <p:nvPr>
            <p:ph idx="1" type="body"/>
          </p:nvPr>
        </p:nvSpPr>
        <p:spPr>
          <a:xfrm>
            <a:off x="0" y="796595"/>
            <a:ext cx="4398264" cy="1672285"/>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The subnets associated with each VLAN are:</a:t>
            </a:r>
            <a:endParaRPr/>
          </a:p>
          <a:p>
            <a:pPr indent="-215900" lvl="1" marL="358775" rtl="0" algn="l">
              <a:lnSpc>
                <a:spcPct val="100000"/>
              </a:lnSpc>
              <a:spcBef>
                <a:spcPts val="900"/>
              </a:spcBef>
              <a:spcAft>
                <a:spcPts val="0"/>
              </a:spcAft>
              <a:buSzPts val="1600"/>
              <a:buChar char="•"/>
            </a:pPr>
            <a:r>
              <a:rPr lang="en-US" sz="1600"/>
              <a:t>VLAN 10 - Faculty/Staff - 172.17.10.0/24</a:t>
            </a:r>
            <a:endParaRPr/>
          </a:p>
          <a:p>
            <a:pPr indent="-215900" lvl="1" marL="358775" rtl="0" algn="l">
              <a:lnSpc>
                <a:spcPct val="100000"/>
              </a:lnSpc>
              <a:spcBef>
                <a:spcPts val="600"/>
              </a:spcBef>
              <a:spcAft>
                <a:spcPts val="0"/>
              </a:spcAft>
              <a:buSzPts val="1600"/>
              <a:buChar char="•"/>
            </a:pPr>
            <a:r>
              <a:rPr lang="en-US" sz="1600"/>
              <a:t>VLAN 20 - Students - 172.17.20.0/24</a:t>
            </a:r>
            <a:endParaRPr/>
          </a:p>
          <a:p>
            <a:pPr indent="-215900" lvl="1" marL="358775" rtl="0" algn="l">
              <a:lnSpc>
                <a:spcPct val="100000"/>
              </a:lnSpc>
              <a:spcBef>
                <a:spcPts val="600"/>
              </a:spcBef>
              <a:spcAft>
                <a:spcPts val="0"/>
              </a:spcAft>
              <a:buSzPts val="1600"/>
              <a:buChar char="•"/>
            </a:pPr>
            <a:r>
              <a:rPr lang="en-US" sz="1600"/>
              <a:t>VLAN 30 - Guests - 172.17.30.0/24</a:t>
            </a:r>
            <a:endParaRPr/>
          </a:p>
          <a:p>
            <a:pPr indent="-215900" lvl="1" marL="358775" rtl="0" algn="l">
              <a:lnSpc>
                <a:spcPct val="100000"/>
              </a:lnSpc>
              <a:spcBef>
                <a:spcPts val="600"/>
              </a:spcBef>
              <a:spcAft>
                <a:spcPts val="0"/>
              </a:spcAft>
              <a:buSzPts val="1600"/>
              <a:buChar char="•"/>
            </a:pPr>
            <a:r>
              <a:rPr lang="en-US" sz="1600"/>
              <a:t>VLAN 99 - Native - 172.17.99.0/24</a:t>
            </a:r>
            <a:endParaRPr/>
          </a:p>
        </p:txBody>
      </p:sp>
      <p:sp>
        <p:nvSpPr>
          <p:cNvPr id="394" name="Google Shape;394;p32"/>
          <p:cNvSpPr txBox="1"/>
          <p:nvPr/>
        </p:nvSpPr>
        <p:spPr>
          <a:xfrm>
            <a:off x="109728" y="2569464"/>
            <a:ext cx="3136392"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F0/1 port on S1 is configured as a trunk port.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Note</a:t>
            </a:r>
            <a:r>
              <a:rPr b="0" i="0" lang="en-US" sz="1600" u="none" cap="none" strike="noStrike">
                <a:solidFill>
                  <a:srgbClr val="000000"/>
                </a:solidFill>
                <a:latin typeface="Arial"/>
                <a:ea typeface="Arial"/>
                <a:cs typeface="Arial"/>
                <a:sym typeface="Arial"/>
              </a:rPr>
              <a:t>: This assumes a 2960 switch using 802.1q tagging. Layer 3 switches require the encapsulation to be configured before the trunk mode. </a:t>
            </a:r>
            <a:endParaRPr b="0" i="0" sz="1400" u="none" cap="none" strike="noStrike">
              <a:solidFill>
                <a:srgbClr val="000000"/>
              </a:solidFill>
              <a:latin typeface="Arial"/>
              <a:ea typeface="Arial"/>
              <a:cs typeface="Arial"/>
              <a:sym typeface="Arial"/>
            </a:endParaRPr>
          </a:p>
        </p:txBody>
      </p:sp>
      <p:graphicFrame>
        <p:nvGraphicFramePr>
          <p:cNvPr id="395" name="Google Shape;395;p32"/>
          <p:cNvGraphicFramePr/>
          <p:nvPr/>
        </p:nvGraphicFramePr>
        <p:xfrm>
          <a:off x="3305442" y="2558606"/>
          <a:ext cx="3000000" cy="3000000"/>
        </p:xfrm>
        <a:graphic>
          <a:graphicData uri="http://schemas.openxmlformats.org/drawingml/2006/table">
            <a:tbl>
              <a:tblPr bandRow="1" firstRow="1">
                <a:noFill/>
                <a:tableStyleId>{F89C1AF1-62D1-4ADB-A52F-D370BBC66F13}</a:tableStyleId>
              </a:tblPr>
              <a:tblGrid>
                <a:gridCol w="1432550"/>
                <a:gridCol w="4197100"/>
              </a:tblGrid>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Prompt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Command</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Interface fa0/1</a:t>
                      </a:r>
                      <a:endParaRPr sz="16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S1(config-if)#</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Switchport mode trunk</a:t>
                      </a:r>
                      <a:endParaRPr sz="16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S1(config-if)#</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Switchport trunk native vlan 99</a:t>
                      </a:r>
                      <a:endParaRPr sz="16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S1(config-if)#</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Switchport trunk allowed vlan 10,20,30,99</a:t>
                      </a:r>
                      <a:endParaRPr sz="16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S1(config-if)#</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end</a:t>
                      </a:r>
                      <a:endParaRPr sz="1400" u="none" cap="none" strike="noStrike"/>
                    </a:p>
                  </a:txBody>
                  <a:tcPr marT="45725" marB="45725" marR="91450" marL="91450"/>
                </a:tc>
              </a:tr>
            </a:tbl>
          </a:graphicData>
        </a:graphic>
      </p:graphicFrame>
      <p:pic>
        <p:nvPicPr>
          <p:cNvPr id="396" name="Google Shape;396;p32"/>
          <p:cNvPicPr preferRelativeResize="0"/>
          <p:nvPr/>
        </p:nvPicPr>
        <p:blipFill rotWithShape="1">
          <a:blip r:embed="rId3">
            <a:alphaModFix/>
          </a:blip>
          <a:srcRect b="0" l="0" r="0" t="0"/>
          <a:stretch/>
        </p:blipFill>
        <p:spPr>
          <a:xfrm>
            <a:off x="4873752" y="81154"/>
            <a:ext cx="4061346" cy="2321290"/>
          </a:xfrm>
          <a:prstGeom prst="rect">
            <a:avLst/>
          </a:prstGeom>
          <a:noFill/>
          <a:ln>
            <a:noFill/>
          </a:ln>
        </p:spPr>
      </p:pic>
    </p:spTree>
  </p:cSld>
  <p:clrMapOvr>
    <a:masterClrMapping/>
  </p:clrMapOvr>
  <p:transition spd="slow">
    <p:wipe dir="l"/>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3"/>
          <p:cNvSpPr txBox="1"/>
          <p:nvPr>
            <p:ph type="title"/>
          </p:nvPr>
        </p:nvSpPr>
        <p:spPr>
          <a:xfrm>
            <a:off x="0" y="0"/>
            <a:ext cx="4398264"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Trunks</a:t>
            </a:r>
            <a:br>
              <a:rPr lang="en-US" sz="1600"/>
            </a:br>
            <a:r>
              <a:rPr lang="en-US"/>
              <a:t>Verify Trunk Configuration</a:t>
            </a:r>
            <a:endParaRPr/>
          </a:p>
        </p:txBody>
      </p:sp>
      <p:sp>
        <p:nvSpPr>
          <p:cNvPr id="403" name="Google Shape;403;p33"/>
          <p:cNvSpPr txBox="1"/>
          <p:nvPr>
            <p:ph idx="1" type="body"/>
          </p:nvPr>
        </p:nvSpPr>
        <p:spPr>
          <a:xfrm>
            <a:off x="113464" y="828130"/>
            <a:ext cx="4401766" cy="3672114"/>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Set the trunk mode and native vlan.</a:t>
            </a:r>
            <a:endParaRPr/>
          </a:p>
          <a:p>
            <a:pPr indent="0" lvl="0" marL="0" rtl="0" algn="l">
              <a:lnSpc>
                <a:spcPct val="100000"/>
              </a:lnSpc>
              <a:spcBef>
                <a:spcPts val="1200"/>
              </a:spcBef>
              <a:spcAft>
                <a:spcPts val="0"/>
              </a:spcAft>
              <a:buSzPts val="1440"/>
              <a:buNone/>
            </a:pPr>
            <a:r>
              <a:rPr lang="en-US" sz="1600"/>
              <a:t>Notice </a:t>
            </a:r>
            <a:r>
              <a:rPr b="1" lang="en-US" sz="1600"/>
              <a:t>sh int fa0/1 switchport </a:t>
            </a:r>
            <a:r>
              <a:rPr lang="en-US" sz="1600"/>
              <a:t>command:</a:t>
            </a:r>
            <a:endParaRPr/>
          </a:p>
          <a:p>
            <a:pPr indent="-169863" lvl="0" marL="169863" rtl="0" algn="l">
              <a:lnSpc>
                <a:spcPct val="100000"/>
              </a:lnSpc>
              <a:spcBef>
                <a:spcPts val="1200"/>
              </a:spcBef>
              <a:spcAft>
                <a:spcPts val="0"/>
              </a:spcAft>
              <a:buSzPts val="1440"/>
              <a:buFont typeface="Arial"/>
              <a:buChar char="•"/>
            </a:pPr>
            <a:r>
              <a:rPr lang="en-US" sz="1600"/>
              <a:t>Is set to trunk administratively</a:t>
            </a:r>
            <a:endParaRPr/>
          </a:p>
          <a:p>
            <a:pPr indent="-169863" lvl="0" marL="169863" rtl="0" algn="l">
              <a:lnSpc>
                <a:spcPct val="100000"/>
              </a:lnSpc>
              <a:spcBef>
                <a:spcPts val="1200"/>
              </a:spcBef>
              <a:spcAft>
                <a:spcPts val="0"/>
              </a:spcAft>
              <a:buSzPts val="1440"/>
              <a:buFont typeface="Arial"/>
              <a:buChar char="•"/>
            </a:pPr>
            <a:r>
              <a:rPr lang="en-US" sz="1600"/>
              <a:t>Is set as trunk operationally (functioning)</a:t>
            </a:r>
            <a:endParaRPr/>
          </a:p>
          <a:p>
            <a:pPr indent="-169863" lvl="0" marL="169863" rtl="0" algn="l">
              <a:lnSpc>
                <a:spcPct val="100000"/>
              </a:lnSpc>
              <a:spcBef>
                <a:spcPts val="1200"/>
              </a:spcBef>
              <a:spcAft>
                <a:spcPts val="0"/>
              </a:spcAft>
              <a:buSzPts val="1440"/>
              <a:buFont typeface="Arial"/>
              <a:buChar char="•"/>
            </a:pPr>
            <a:r>
              <a:rPr lang="en-US" sz="1600"/>
              <a:t>Encapsulation is dot1q</a:t>
            </a:r>
            <a:endParaRPr/>
          </a:p>
          <a:p>
            <a:pPr indent="-169863" lvl="0" marL="169863" rtl="0" algn="l">
              <a:lnSpc>
                <a:spcPct val="100000"/>
              </a:lnSpc>
              <a:spcBef>
                <a:spcPts val="1200"/>
              </a:spcBef>
              <a:spcAft>
                <a:spcPts val="0"/>
              </a:spcAft>
              <a:buSzPts val="1440"/>
              <a:buFont typeface="Arial"/>
              <a:buChar char="•"/>
            </a:pPr>
            <a:r>
              <a:rPr lang="en-US" sz="1600"/>
              <a:t>Native VLAN set to VLAN 99 </a:t>
            </a:r>
            <a:endParaRPr/>
          </a:p>
          <a:p>
            <a:pPr indent="-169863" lvl="0" marL="169863" rtl="0" algn="l">
              <a:lnSpc>
                <a:spcPct val="100000"/>
              </a:lnSpc>
              <a:spcBef>
                <a:spcPts val="1200"/>
              </a:spcBef>
              <a:spcAft>
                <a:spcPts val="0"/>
              </a:spcAft>
              <a:buSzPts val="1440"/>
              <a:buFont typeface="Arial"/>
              <a:buChar char="•"/>
            </a:pPr>
            <a:r>
              <a:rPr lang="en-US" sz="1600"/>
              <a:t>All VLANs created on the switch will pass traffic on this trunk</a:t>
            </a:r>
            <a:endParaRPr/>
          </a:p>
        </p:txBody>
      </p:sp>
      <p:pic>
        <p:nvPicPr>
          <p:cNvPr id="404" name="Google Shape;404;p33"/>
          <p:cNvPicPr preferRelativeResize="0"/>
          <p:nvPr/>
        </p:nvPicPr>
        <p:blipFill rotWithShape="1">
          <a:blip r:embed="rId3">
            <a:alphaModFix/>
          </a:blip>
          <a:srcRect b="0" l="0" r="0" t="0"/>
          <a:stretch/>
        </p:blipFill>
        <p:spPr>
          <a:xfrm>
            <a:off x="4515230" y="504016"/>
            <a:ext cx="4445889" cy="4189713"/>
          </a:xfrm>
          <a:prstGeom prst="rect">
            <a:avLst/>
          </a:prstGeom>
          <a:noFill/>
          <a:ln>
            <a:noFill/>
          </a:ln>
        </p:spPr>
      </p:pic>
    </p:spTree>
  </p:cSld>
  <p:clrMapOvr>
    <a:masterClrMapping/>
  </p:clrMapOvr>
  <p:transition spd="slow">
    <p:wipe dir="l"/>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4"/>
          <p:cNvSpPr txBox="1"/>
          <p:nvPr>
            <p:ph type="title"/>
          </p:nvPr>
        </p:nvSpPr>
        <p:spPr>
          <a:xfrm>
            <a:off x="0" y="0"/>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Trunks</a:t>
            </a:r>
            <a:br>
              <a:rPr lang="en-US" sz="1600"/>
            </a:br>
            <a:r>
              <a:rPr lang="en-US"/>
              <a:t>Reset the Trunk to the Default State</a:t>
            </a:r>
            <a:endParaRPr/>
          </a:p>
        </p:txBody>
      </p:sp>
      <p:sp>
        <p:nvSpPr>
          <p:cNvPr id="411" name="Google Shape;411;p34"/>
          <p:cNvSpPr txBox="1"/>
          <p:nvPr>
            <p:ph idx="1" type="body"/>
          </p:nvPr>
        </p:nvSpPr>
        <p:spPr>
          <a:xfrm>
            <a:off x="116115" y="821051"/>
            <a:ext cx="4236429" cy="2260477"/>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620"/>
              <a:buFont typeface="Arial"/>
              <a:buChar char="•"/>
            </a:pPr>
            <a:r>
              <a:rPr lang="en-US" sz="1800"/>
              <a:t>Reset the default trunk settings with the no command.</a:t>
            </a:r>
            <a:endParaRPr/>
          </a:p>
          <a:p>
            <a:pPr indent="-215900" lvl="1" marL="358775" rtl="0" algn="l">
              <a:lnSpc>
                <a:spcPct val="100000"/>
              </a:lnSpc>
              <a:spcBef>
                <a:spcPts val="900"/>
              </a:spcBef>
              <a:spcAft>
                <a:spcPts val="0"/>
              </a:spcAft>
              <a:buSzPts val="1700"/>
              <a:buFont typeface="Arial"/>
              <a:buChar char="•"/>
            </a:pPr>
            <a:r>
              <a:rPr lang="en-US" sz="1700"/>
              <a:t>All VLANs allowed to pass traffic</a:t>
            </a:r>
            <a:endParaRPr/>
          </a:p>
          <a:p>
            <a:pPr indent="-215900" lvl="1" marL="358775" rtl="0" algn="l">
              <a:lnSpc>
                <a:spcPct val="100000"/>
              </a:lnSpc>
              <a:spcBef>
                <a:spcPts val="600"/>
              </a:spcBef>
              <a:spcAft>
                <a:spcPts val="0"/>
              </a:spcAft>
              <a:buSzPts val="1700"/>
              <a:buFont typeface="Arial"/>
              <a:buChar char="•"/>
            </a:pPr>
            <a:r>
              <a:rPr lang="en-US" sz="1700"/>
              <a:t>Native VLAN = VLAN 1</a:t>
            </a:r>
            <a:endParaRPr/>
          </a:p>
          <a:p>
            <a:pPr indent="-169863" lvl="0" marL="169863" rtl="0" algn="l">
              <a:lnSpc>
                <a:spcPct val="100000"/>
              </a:lnSpc>
              <a:spcBef>
                <a:spcPts val="900"/>
              </a:spcBef>
              <a:spcAft>
                <a:spcPts val="0"/>
              </a:spcAft>
              <a:buSzPts val="1620"/>
              <a:buFont typeface="Arial"/>
              <a:buChar char="•"/>
            </a:pPr>
            <a:r>
              <a:rPr lang="en-US" sz="1800"/>
              <a:t>Verify the default settings with a     </a:t>
            </a:r>
            <a:r>
              <a:rPr b="1" lang="en-US" sz="1800"/>
              <a:t>sh int fa0/1 switchport </a:t>
            </a:r>
            <a:r>
              <a:rPr lang="en-US" sz="1800"/>
              <a:t>command.</a:t>
            </a:r>
            <a:endParaRPr/>
          </a:p>
          <a:p>
            <a:pPr indent="-66992" lvl="0" marL="169863" rtl="0" algn="l">
              <a:lnSpc>
                <a:spcPct val="100000"/>
              </a:lnSpc>
              <a:spcBef>
                <a:spcPts val="1200"/>
              </a:spcBef>
              <a:spcAft>
                <a:spcPts val="0"/>
              </a:spcAft>
              <a:buSzPts val="1620"/>
              <a:buFont typeface="Arial"/>
              <a:buNone/>
            </a:pPr>
            <a:r>
              <a:t/>
            </a:r>
            <a:endParaRPr sz="1800"/>
          </a:p>
        </p:txBody>
      </p:sp>
      <p:pic>
        <p:nvPicPr>
          <p:cNvPr id="412" name="Google Shape;412;p34"/>
          <p:cNvPicPr preferRelativeResize="0"/>
          <p:nvPr/>
        </p:nvPicPr>
        <p:blipFill rotWithShape="1">
          <a:blip r:embed="rId3">
            <a:alphaModFix/>
          </a:blip>
          <a:srcRect b="0" l="0" r="0" t="0"/>
          <a:stretch/>
        </p:blipFill>
        <p:spPr>
          <a:xfrm>
            <a:off x="156210" y="3225927"/>
            <a:ext cx="4196334" cy="1126617"/>
          </a:xfrm>
          <a:prstGeom prst="rect">
            <a:avLst/>
          </a:prstGeom>
          <a:noFill/>
          <a:ln>
            <a:noFill/>
          </a:ln>
        </p:spPr>
      </p:pic>
      <p:pic>
        <p:nvPicPr>
          <p:cNvPr id="413" name="Google Shape;413;p34"/>
          <p:cNvPicPr preferRelativeResize="0"/>
          <p:nvPr/>
        </p:nvPicPr>
        <p:blipFill rotWithShape="1">
          <a:blip r:embed="rId4">
            <a:alphaModFix/>
          </a:blip>
          <a:srcRect b="0" l="0" r="0" t="0"/>
          <a:stretch/>
        </p:blipFill>
        <p:spPr>
          <a:xfrm>
            <a:off x="4463034" y="853630"/>
            <a:ext cx="4587210" cy="3789807"/>
          </a:xfrm>
          <a:prstGeom prst="rect">
            <a:avLst/>
          </a:prstGeom>
          <a:noFill/>
          <a:ln>
            <a:noFill/>
          </a:ln>
        </p:spPr>
      </p:pic>
    </p:spTree>
  </p:cSld>
  <p:clrMapOvr>
    <a:masterClrMapping/>
  </p:clrMapOvr>
  <p:transition spd="slow">
    <p:wipe dir="l"/>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5"/>
          <p:cNvSpPr txBox="1"/>
          <p:nvPr>
            <p:ph type="title"/>
          </p:nvPr>
        </p:nvSpPr>
        <p:spPr>
          <a:xfrm>
            <a:off x="0" y="0"/>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VLAN Trunks</a:t>
            </a:r>
            <a:br>
              <a:rPr lang="en-US" sz="1600"/>
            </a:br>
            <a:r>
              <a:rPr lang="en-US"/>
              <a:t>Reset the Trunk to the Default State (Cont.)</a:t>
            </a:r>
            <a:endParaRPr/>
          </a:p>
        </p:txBody>
      </p:sp>
      <p:sp>
        <p:nvSpPr>
          <p:cNvPr id="420" name="Google Shape;420;p35"/>
          <p:cNvSpPr txBox="1"/>
          <p:nvPr>
            <p:ph idx="1" type="body"/>
          </p:nvPr>
        </p:nvSpPr>
        <p:spPr>
          <a:xfrm>
            <a:off x="1" y="821051"/>
            <a:ext cx="4663440" cy="379449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Reset the trunk to an access mode with the </a:t>
            </a:r>
            <a:r>
              <a:rPr b="1" lang="en-US" sz="1600"/>
              <a:t>switchport mode access </a:t>
            </a:r>
            <a:r>
              <a:rPr lang="en-US" sz="1600"/>
              <a:t>command:</a:t>
            </a:r>
            <a:endParaRPr/>
          </a:p>
          <a:p>
            <a:pPr indent="-215900" lvl="1" marL="358775" rtl="0" algn="l">
              <a:lnSpc>
                <a:spcPct val="100000"/>
              </a:lnSpc>
              <a:spcBef>
                <a:spcPts val="900"/>
              </a:spcBef>
              <a:spcAft>
                <a:spcPts val="0"/>
              </a:spcAft>
              <a:buSzPts val="1600"/>
              <a:buFont typeface="Arial"/>
              <a:buChar char="•"/>
            </a:pPr>
            <a:r>
              <a:rPr lang="en-US" sz="1600"/>
              <a:t>Is set to an access interface administratively</a:t>
            </a:r>
            <a:endParaRPr/>
          </a:p>
          <a:p>
            <a:pPr indent="-215900" lvl="1" marL="358775" rtl="0" algn="l">
              <a:lnSpc>
                <a:spcPct val="100000"/>
              </a:lnSpc>
              <a:spcBef>
                <a:spcPts val="600"/>
              </a:spcBef>
              <a:spcAft>
                <a:spcPts val="0"/>
              </a:spcAft>
              <a:buSzPts val="1600"/>
              <a:buFont typeface="Arial"/>
              <a:buChar char="•"/>
            </a:pPr>
            <a:r>
              <a:rPr lang="en-US" sz="1600"/>
              <a:t>Is set as an access interface operationally (functioning)</a:t>
            </a:r>
            <a:endParaRPr/>
          </a:p>
          <a:p>
            <a:pPr indent="0" lvl="0" marL="0" rtl="0" algn="l">
              <a:lnSpc>
                <a:spcPct val="100000"/>
              </a:lnSpc>
              <a:spcBef>
                <a:spcPts val="900"/>
              </a:spcBef>
              <a:spcAft>
                <a:spcPts val="0"/>
              </a:spcAft>
              <a:buSzPts val="1440"/>
              <a:buNone/>
            </a:pPr>
            <a:r>
              <a:t/>
            </a:r>
            <a:endParaRPr sz="1600"/>
          </a:p>
          <a:p>
            <a:pPr indent="-66992" lvl="0" marL="169863" rtl="0" algn="l">
              <a:lnSpc>
                <a:spcPct val="100000"/>
              </a:lnSpc>
              <a:spcBef>
                <a:spcPts val="1200"/>
              </a:spcBef>
              <a:spcAft>
                <a:spcPts val="0"/>
              </a:spcAft>
              <a:buSzPts val="1620"/>
              <a:buFont typeface="Arial"/>
              <a:buNone/>
            </a:pPr>
            <a:r>
              <a:t/>
            </a:r>
            <a:endParaRPr sz="1800"/>
          </a:p>
        </p:txBody>
      </p:sp>
      <p:pic>
        <p:nvPicPr>
          <p:cNvPr id="421" name="Google Shape;421;p35"/>
          <p:cNvPicPr preferRelativeResize="0"/>
          <p:nvPr/>
        </p:nvPicPr>
        <p:blipFill rotWithShape="1">
          <a:blip r:embed="rId3">
            <a:alphaModFix/>
          </a:blip>
          <a:srcRect b="0" l="0" r="0" t="0"/>
          <a:stretch/>
        </p:blipFill>
        <p:spPr>
          <a:xfrm>
            <a:off x="4690872" y="953262"/>
            <a:ext cx="4335018" cy="2823210"/>
          </a:xfrm>
          <a:prstGeom prst="rect">
            <a:avLst/>
          </a:prstGeom>
          <a:noFill/>
          <a:ln>
            <a:noFill/>
          </a:ln>
        </p:spPr>
      </p:pic>
    </p:spTree>
  </p:cSld>
  <p:clrMapOvr>
    <a:masterClrMapping/>
  </p:clrMapOvr>
  <p:transition spd="slow">
    <p:wipe dir="l"/>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8"/>
          <p:cNvSpPr txBox="1"/>
          <p:nvPr>
            <p:ph type="ctrTitle"/>
          </p:nvPr>
        </p:nvSpPr>
        <p:spPr>
          <a:xfrm>
            <a:off x="416425" y="915409"/>
            <a:ext cx="8231464" cy="180239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Dynamic Trunking Protocol</a:t>
            </a:r>
            <a:endParaRPr/>
          </a:p>
        </p:txBody>
      </p:sp>
    </p:spTree>
  </p:cSld>
  <p:clrMapOvr>
    <a:masterClrMapping/>
  </p:clrMapOvr>
  <p:transition spd="slow">
    <p:wipe dir="l"/>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9"/>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Dynamic Trunking Protocol</a:t>
            </a:r>
            <a:br>
              <a:rPr lang="en-US"/>
            </a:br>
            <a:r>
              <a:rPr lang="en-US"/>
              <a:t>Introduction to DTP</a:t>
            </a:r>
            <a:endParaRPr/>
          </a:p>
        </p:txBody>
      </p:sp>
      <p:sp>
        <p:nvSpPr>
          <p:cNvPr id="434" name="Google Shape;434;p39"/>
          <p:cNvSpPr txBox="1"/>
          <p:nvPr>
            <p:ph idx="1" type="body"/>
          </p:nvPr>
        </p:nvSpPr>
        <p:spPr>
          <a:xfrm>
            <a:off x="265176" y="832105"/>
            <a:ext cx="8787385" cy="2651760"/>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Dynamic Trunking Protocol (DTP) is a proprietary Cisco protocol.</a:t>
            </a:r>
            <a:endParaRPr sz="1600"/>
          </a:p>
          <a:p>
            <a:pPr indent="0" lvl="0" marL="0" rtl="0" algn="l">
              <a:lnSpc>
                <a:spcPct val="100000"/>
              </a:lnSpc>
              <a:spcBef>
                <a:spcPts val="1200"/>
              </a:spcBef>
              <a:spcAft>
                <a:spcPts val="0"/>
              </a:spcAft>
              <a:buSzPts val="1440"/>
              <a:buNone/>
            </a:pPr>
            <a:r>
              <a:rPr lang="en-US" sz="1600"/>
              <a:t>DTP characteristics are as follows:</a:t>
            </a:r>
            <a:endParaRPr/>
          </a:p>
          <a:p>
            <a:pPr indent="-215900" lvl="1" marL="358775" rtl="0" algn="l">
              <a:lnSpc>
                <a:spcPct val="100000"/>
              </a:lnSpc>
              <a:spcBef>
                <a:spcPts val="900"/>
              </a:spcBef>
              <a:spcAft>
                <a:spcPts val="0"/>
              </a:spcAft>
              <a:buSzPts val="1600"/>
              <a:buFont typeface="Arial"/>
              <a:buChar char="•"/>
            </a:pPr>
            <a:r>
              <a:rPr lang="en-US" sz="1600"/>
              <a:t>On by default on Catalyst 2960 and 2950 switches</a:t>
            </a:r>
            <a:endParaRPr/>
          </a:p>
          <a:p>
            <a:pPr indent="-215900" lvl="1" marL="358775" rtl="0" algn="l">
              <a:lnSpc>
                <a:spcPct val="100000"/>
              </a:lnSpc>
              <a:spcBef>
                <a:spcPts val="600"/>
              </a:spcBef>
              <a:spcAft>
                <a:spcPts val="0"/>
              </a:spcAft>
              <a:buSzPts val="1600"/>
              <a:buFont typeface="Arial"/>
              <a:buChar char="•"/>
            </a:pPr>
            <a:r>
              <a:rPr lang="en-US" sz="1600"/>
              <a:t>Dynamic-auto is default on the 2960 and 2950 switches</a:t>
            </a:r>
            <a:endParaRPr/>
          </a:p>
          <a:p>
            <a:pPr indent="-215900" lvl="1" marL="358775" rtl="0" algn="l">
              <a:lnSpc>
                <a:spcPct val="100000"/>
              </a:lnSpc>
              <a:spcBef>
                <a:spcPts val="600"/>
              </a:spcBef>
              <a:spcAft>
                <a:spcPts val="0"/>
              </a:spcAft>
              <a:buSzPts val="1600"/>
              <a:buFont typeface="Arial"/>
              <a:buChar char="•"/>
            </a:pPr>
            <a:r>
              <a:rPr lang="en-US" sz="1600"/>
              <a:t>May be turned off with the nonegotiate command</a:t>
            </a:r>
            <a:endParaRPr/>
          </a:p>
          <a:p>
            <a:pPr indent="-215900" lvl="1" marL="358775" rtl="0" algn="l">
              <a:lnSpc>
                <a:spcPct val="100000"/>
              </a:lnSpc>
              <a:spcBef>
                <a:spcPts val="600"/>
              </a:spcBef>
              <a:spcAft>
                <a:spcPts val="0"/>
              </a:spcAft>
              <a:buSzPts val="1600"/>
              <a:buFont typeface="Arial"/>
              <a:buChar char="•"/>
            </a:pPr>
            <a:r>
              <a:rPr lang="en-US" sz="1600"/>
              <a:t>May be turned back on by setting the interface to dynamic-auto</a:t>
            </a:r>
            <a:endParaRPr/>
          </a:p>
          <a:p>
            <a:pPr indent="-215900" lvl="1" marL="358775" rtl="0" algn="l">
              <a:lnSpc>
                <a:spcPct val="100000"/>
              </a:lnSpc>
              <a:spcBef>
                <a:spcPts val="600"/>
              </a:spcBef>
              <a:spcAft>
                <a:spcPts val="0"/>
              </a:spcAft>
              <a:buSzPts val="1600"/>
              <a:buFont typeface="Arial"/>
              <a:buChar char="•"/>
            </a:pPr>
            <a:r>
              <a:rPr lang="en-US" sz="1600"/>
              <a:t>Setting a switch to a static trunk or static access will avoid negotiation issues with the </a:t>
            </a:r>
            <a:r>
              <a:rPr b="1" lang="en-US" sz="1600"/>
              <a:t>switchport mode trunk </a:t>
            </a:r>
            <a:r>
              <a:rPr lang="en-US" sz="1600"/>
              <a:t>or the </a:t>
            </a:r>
            <a:r>
              <a:rPr b="1" lang="en-US" sz="1600"/>
              <a:t>switchport mode access </a:t>
            </a:r>
            <a:r>
              <a:rPr lang="en-US" sz="1600"/>
              <a:t>commands.</a:t>
            </a:r>
            <a:endParaRPr/>
          </a:p>
          <a:p>
            <a:pPr indent="-127000" lvl="1" marL="358775" rtl="0" algn="l">
              <a:lnSpc>
                <a:spcPct val="100000"/>
              </a:lnSpc>
              <a:spcBef>
                <a:spcPts val="6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p:txBody>
      </p:sp>
      <p:pic>
        <p:nvPicPr>
          <p:cNvPr id="435" name="Google Shape;435;p39"/>
          <p:cNvPicPr preferRelativeResize="0"/>
          <p:nvPr/>
        </p:nvPicPr>
        <p:blipFill rotWithShape="1">
          <a:blip r:embed="rId3">
            <a:alphaModFix/>
          </a:blip>
          <a:srcRect b="0" l="0" r="0" t="0"/>
          <a:stretch/>
        </p:blipFill>
        <p:spPr>
          <a:xfrm>
            <a:off x="2377059" y="3566160"/>
            <a:ext cx="3914775" cy="514350"/>
          </a:xfrm>
          <a:prstGeom prst="rect">
            <a:avLst/>
          </a:prstGeom>
          <a:noFill/>
          <a:ln>
            <a:noFill/>
          </a:ln>
        </p:spPr>
      </p:pic>
      <p:pic>
        <p:nvPicPr>
          <p:cNvPr id="436" name="Google Shape;436;p39"/>
          <p:cNvPicPr preferRelativeResize="0"/>
          <p:nvPr/>
        </p:nvPicPr>
        <p:blipFill rotWithShape="1">
          <a:blip r:embed="rId4">
            <a:alphaModFix/>
          </a:blip>
          <a:srcRect b="0" l="0" r="0" t="0"/>
          <a:stretch/>
        </p:blipFill>
        <p:spPr>
          <a:xfrm>
            <a:off x="2377059" y="4223385"/>
            <a:ext cx="3914775" cy="361950"/>
          </a:xfrm>
          <a:prstGeom prst="rect">
            <a:avLst/>
          </a:prstGeom>
          <a:noFill/>
          <a:ln>
            <a:noFill/>
          </a:ln>
        </p:spPr>
      </p:pic>
    </p:spTree>
  </p:cSld>
  <p:clrMapOvr>
    <a:masterClrMapping/>
  </p:clrMapOvr>
  <p:transition spd="slow">
    <p:wipe dir="l"/>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0"/>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Dynamic Trunking Protocol</a:t>
            </a:r>
            <a:br>
              <a:rPr lang="en-US"/>
            </a:br>
            <a:r>
              <a:rPr lang="en-US"/>
              <a:t>Negotiated Interface Modes</a:t>
            </a:r>
            <a:endParaRPr/>
          </a:p>
        </p:txBody>
      </p:sp>
      <p:sp>
        <p:nvSpPr>
          <p:cNvPr id="443" name="Google Shape;443;p40"/>
          <p:cNvSpPr txBox="1"/>
          <p:nvPr>
            <p:ph idx="1" type="body"/>
          </p:nvPr>
        </p:nvSpPr>
        <p:spPr>
          <a:xfrm>
            <a:off x="128016" y="866834"/>
            <a:ext cx="8853715" cy="801256"/>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The </a:t>
            </a:r>
            <a:r>
              <a:rPr b="1" lang="en-US" sz="1600"/>
              <a:t>switchport mode</a:t>
            </a:r>
            <a:r>
              <a:rPr lang="en-US" sz="1600"/>
              <a:t> command has additional options.</a:t>
            </a:r>
            <a:endParaRPr/>
          </a:p>
          <a:p>
            <a:pPr indent="0" lvl="0" marL="0" rtl="0" algn="l">
              <a:lnSpc>
                <a:spcPct val="100000"/>
              </a:lnSpc>
              <a:spcBef>
                <a:spcPts val="1200"/>
              </a:spcBef>
              <a:spcAft>
                <a:spcPts val="0"/>
              </a:spcAft>
              <a:buSzPts val="1440"/>
              <a:buNone/>
            </a:pPr>
            <a:r>
              <a:rPr lang="en-US" sz="1600"/>
              <a:t>Use the </a:t>
            </a:r>
            <a:r>
              <a:rPr b="1" lang="en-US" sz="1600"/>
              <a:t>switchport nonegotiate</a:t>
            </a:r>
            <a:r>
              <a:rPr lang="en-US" sz="1600"/>
              <a:t> interface configuration command to stop DTP negotiation.</a:t>
            </a:r>
            <a:endParaRPr sz="1600"/>
          </a:p>
          <a:p>
            <a:pPr indent="-127000" lvl="1" marL="358775" rtl="0" algn="l">
              <a:lnSpc>
                <a:spcPct val="100000"/>
              </a:lnSpc>
              <a:spcBef>
                <a:spcPts val="900"/>
              </a:spcBef>
              <a:spcAft>
                <a:spcPts val="0"/>
              </a:spcAft>
              <a:buSzPts val="1400"/>
              <a:buNone/>
            </a:pPr>
            <a:r>
              <a:t/>
            </a:r>
            <a:endParaRPr/>
          </a:p>
          <a:p>
            <a:pPr indent="-127000" lvl="1" marL="358775" rtl="0" algn="l">
              <a:lnSpc>
                <a:spcPct val="100000"/>
              </a:lnSpc>
              <a:spcBef>
                <a:spcPts val="600"/>
              </a:spcBef>
              <a:spcAft>
                <a:spcPts val="0"/>
              </a:spcAft>
              <a:buSzPts val="1400"/>
              <a:buNone/>
            </a:pPr>
            <a:r>
              <a:t/>
            </a:r>
            <a:endParaRPr/>
          </a:p>
        </p:txBody>
      </p:sp>
      <p:graphicFrame>
        <p:nvGraphicFramePr>
          <p:cNvPr id="444" name="Google Shape;444;p40"/>
          <p:cNvGraphicFramePr/>
          <p:nvPr/>
        </p:nvGraphicFramePr>
        <p:xfrm>
          <a:off x="128016" y="1746758"/>
          <a:ext cx="3000000" cy="3000000"/>
        </p:xfrm>
        <a:graphic>
          <a:graphicData uri="http://schemas.openxmlformats.org/drawingml/2006/table">
            <a:tbl>
              <a:tblPr bandRow="1" firstRow="1">
                <a:noFill/>
                <a:tableStyleId>{F89C1AF1-62D1-4ADB-A52F-D370BBC66F13}</a:tableStyleId>
              </a:tblPr>
              <a:tblGrid>
                <a:gridCol w="2020825"/>
                <a:gridCol w="6711700"/>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Option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Description</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access</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t>Permanent access mode and negotiates to convert the neighboring link into an access link</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dynamic auto</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t>Will becomes a trunk interface if the neighboring interface is set to trunk or desirable mode</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dynamic desirable</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t>Actively seeks to become a trunk by negotiating with other auto or desirable interfaces</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trunk</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t>Permanent trunking mode and negotiates to convert the neighboring link into a trunk link</a:t>
                      </a:r>
                      <a:endParaRPr sz="1400" u="none" cap="none" strike="noStrike"/>
                    </a:p>
                  </a:txBody>
                  <a:tcPr marT="45725" marB="45725" marR="91450" marL="91450" anchor="ctr"/>
                </a:tc>
              </a:tr>
            </a:tbl>
          </a:graphicData>
        </a:graphic>
      </p:graphicFrame>
    </p:spTree>
  </p:cSld>
  <p:clrMapOvr>
    <a:masterClrMapping/>
  </p:clrMapOvr>
  <p:transition spd="slow">
    <p:wipe dir="l"/>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1"/>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Dynamic Trunking Protocol</a:t>
            </a:r>
            <a:br>
              <a:rPr lang="en-US"/>
            </a:br>
            <a:r>
              <a:rPr lang="en-US" sz="2400"/>
              <a:t>Results of a DTP Configuration</a:t>
            </a:r>
            <a:endParaRPr sz="2400"/>
          </a:p>
        </p:txBody>
      </p:sp>
      <p:sp>
        <p:nvSpPr>
          <p:cNvPr id="451" name="Google Shape;451;p41"/>
          <p:cNvSpPr txBox="1"/>
          <p:nvPr>
            <p:ph idx="1" type="body"/>
          </p:nvPr>
        </p:nvSpPr>
        <p:spPr>
          <a:xfrm>
            <a:off x="145357" y="1042752"/>
            <a:ext cx="8853286" cy="515115"/>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440"/>
              <a:buNone/>
            </a:pPr>
            <a:r>
              <a:rPr lang="en-US" sz="1600"/>
              <a:t>DTP configuration options are as follows:</a:t>
            </a:r>
            <a:endParaRPr/>
          </a:p>
        </p:txBody>
      </p:sp>
      <p:graphicFrame>
        <p:nvGraphicFramePr>
          <p:cNvPr id="452" name="Google Shape;452;p41"/>
          <p:cNvGraphicFramePr/>
          <p:nvPr/>
        </p:nvGraphicFramePr>
        <p:xfrm>
          <a:off x="145158" y="1743424"/>
          <a:ext cx="3000000" cy="3000000"/>
        </p:xfrm>
        <a:graphic>
          <a:graphicData uri="http://schemas.openxmlformats.org/drawingml/2006/table">
            <a:tbl>
              <a:tblPr bandRow="1" firstRow="1">
                <a:noFill/>
                <a:tableStyleId>{F89C1AF1-62D1-4ADB-A52F-D370BBC66F13}</a:tableStyleId>
              </a:tblPr>
              <a:tblGrid>
                <a:gridCol w="1770700"/>
                <a:gridCol w="1770700"/>
                <a:gridCol w="1770700"/>
                <a:gridCol w="1770700"/>
                <a:gridCol w="1770700"/>
              </a:tblGrid>
              <a:tr h="370850">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Dynamic Auto</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Dynamic Desirable</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Trunk</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Access</a:t>
                      </a:r>
                      <a:endParaRPr sz="16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Dynamic Auto</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Access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Trunk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Trunk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Access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Dynamic Desirable</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Trunk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Trunk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Trunk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Access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Trunk</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Trunk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Trunk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Trunk</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Limited connectivity</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Access</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Access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Access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Limited connectivity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Access</a:t>
                      </a:r>
                      <a:endParaRPr sz="1400" u="none" cap="none" strike="noStrike"/>
                    </a:p>
                  </a:txBody>
                  <a:tcPr marT="45725" marB="45725" marR="91450" marL="91450" anchor="ctr"/>
                </a:tc>
              </a:tr>
            </a:tbl>
          </a:graphicData>
        </a:graphic>
      </p:graphicFrame>
    </p:spTree>
  </p:cSld>
  <p:clrMapOvr>
    <a:masterClrMapping/>
  </p:clrMapOvr>
  <p:transition spd="slow">
    <p:wipe dir="l"/>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1600"/>
              <a:t>Dynamic Trunking Protocol</a:t>
            </a:r>
            <a:br>
              <a:rPr lang="en-US"/>
            </a:br>
            <a:r>
              <a:rPr lang="en-US" sz="2400"/>
              <a:t>Verify DTP Mode</a:t>
            </a:r>
            <a:endParaRPr sz="2400"/>
          </a:p>
        </p:txBody>
      </p:sp>
      <p:sp>
        <p:nvSpPr>
          <p:cNvPr id="459" name="Google Shape;459;p42"/>
          <p:cNvSpPr txBox="1"/>
          <p:nvPr>
            <p:ph idx="1" type="body"/>
          </p:nvPr>
        </p:nvSpPr>
        <p:spPr>
          <a:xfrm>
            <a:off x="181356" y="985647"/>
            <a:ext cx="3896059" cy="2942877"/>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SzPts val="1350"/>
              <a:buNone/>
            </a:pPr>
            <a:r>
              <a:rPr lang="en-US"/>
              <a:t>The default DTP configuration is dependent on the Cisco IOS version and platform.</a:t>
            </a:r>
            <a:endParaRPr/>
          </a:p>
          <a:p>
            <a:pPr indent="-169863" lvl="0" marL="169863" rtl="0" algn="l">
              <a:lnSpc>
                <a:spcPct val="100000"/>
              </a:lnSpc>
              <a:spcBef>
                <a:spcPts val="1200"/>
              </a:spcBef>
              <a:spcAft>
                <a:spcPts val="0"/>
              </a:spcAft>
              <a:buSzPts val="1350"/>
              <a:buFont typeface="Noto Sans Symbols"/>
              <a:buChar char="▪"/>
            </a:pPr>
            <a:r>
              <a:rPr lang="en-US"/>
              <a:t>Use the </a:t>
            </a:r>
            <a:r>
              <a:rPr b="1" lang="en-US"/>
              <a:t>show dtp interface </a:t>
            </a:r>
            <a:r>
              <a:rPr lang="en-US"/>
              <a:t>command to determine the current DTP mode.</a:t>
            </a:r>
            <a:endParaRPr/>
          </a:p>
          <a:p>
            <a:pPr indent="-169863" lvl="0" marL="169863" rtl="0" algn="l">
              <a:lnSpc>
                <a:spcPct val="100000"/>
              </a:lnSpc>
              <a:spcBef>
                <a:spcPts val="1200"/>
              </a:spcBef>
              <a:spcAft>
                <a:spcPts val="0"/>
              </a:spcAft>
              <a:buSzPts val="1350"/>
              <a:buFont typeface="Noto Sans Symbols"/>
              <a:buChar char="▪"/>
            </a:pPr>
            <a:r>
              <a:rPr lang="en-US"/>
              <a:t>Best practice recommends that the interfaces be set to access or trunk and to turnoff DTP</a:t>
            </a:r>
            <a:endParaRPr/>
          </a:p>
        </p:txBody>
      </p:sp>
      <p:pic>
        <p:nvPicPr>
          <p:cNvPr id="460" name="Google Shape;460;p42"/>
          <p:cNvPicPr preferRelativeResize="0"/>
          <p:nvPr/>
        </p:nvPicPr>
        <p:blipFill rotWithShape="1">
          <a:blip r:embed="rId3">
            <a:alphaModFix/>
          </a:blip>
          <a:srcRect b="0" l="0" r="0" t="0"/>
          <a:stretch/>
        </p:blipFill>
        <p:spPr>
          <a:xfrm>
            <a:off x="4314444" y="985647"/>
            <a:ext cx="4648200" cy="2495550"/>
          </a:xfrm>
          <a:prstGeom prst="rect">
            <a:avLst/>
          </a:prstGeom>
          <a:noFill/>
          <a:ln>
            <a:noFill/>
          </a:ln>
        </p:spPr>
      </p:pic>
    </p:spTree>
  </p:cSld>
  <p:clrMapOvr>
    <a:masterClrMapping/>
  </p:clrMapOvr>
  <p:transition spd="slow">
    <p:wipe dir="l"/>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8"/>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chemeClr val="accent5"/>
              </a:buClr>
              <a:buSzPts val="4600"/>
              <a:buFont typeface="Arial"/>
              <a:buNone/>
            </a:pPr>
            <a:r>
              <a:rPr lang="en-US">
                <a:solidFill>
                  <a:srgbClr val="AEE8FA"/>
                </a:solidFill>
              </a:rPr>
              <a:t>Inter-VLAN Routing Operation</a:t>
            </a:r>
            <a:endParaRPr/>
          </a:p>
        </p:txBody>
      </p:sp>
    </p:spTree>
  </p:cSld>
  <p:clrMapOvr>
    <a:masterClrMapping/>
  </p:clrMapOvr>
  <p:transition spd="slow">
    <p:wipe dir="l"/>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Operation</a:t>
            </a:r>
            <a:br>
              <a:rPr lang="en-US"/>
            </a:br>
            <a:r>
              <a:rPr lang="en-US" sz="2400"/>
              <a:t>What is Inter-VLAN Routing?</a:t>
            </a:r>
            <a:endParaRPr/>
          </a:p>
        </p:txBody>
      </p:sp>
      <p:sp>
        <p:nvSpPr>
          <p:cNvPr id="473" name="Google Shape;473;p1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400">
                <a:solidFill>
                  <a:srgbClr val="000000"/>
                </a:solidFill>
              </a:rPr>
              <a:t>VLANs are used to segment switched Layer 2 networks for a variety of reasons. Regardless of the reason, hosts in one VLAN cannot communicate with hosts in another VLAN unless there is a router or a Layer 3 switch to provide routing services.</a:t>
            </a:r>
            <a:endParaRPr/>
          </a:p>
          <a:p>
            <a:pPr indent="0" lvl="0" marL="0" rtl="0" algn="l">
              <a:lnSpc>
                <a:spcPct val="100000"/>
              </a:lnSpc>
              <a:spcBef>
                <a:spcPts val="400"/>
              </a:spcBef>
              <a:spcAft>
                <a:spcPts val="0"/>
              </a:spcAft>
              <a:buSzPts val="2000"/>
              <a:buNone/>
            </a:pPr>
            <a:r>
              <a:t/>
            </a:r>
            <a:endParaRPr sz="1400">
              <a:solidFill>
                <a:srgbClr val="000000"/>
              </a:solidFill>
            </a:endParaRPr>
          </a:p>
          <a:p>
            <a:pPr indent="0" lvl="0" marL="0" rtl="0" algn="l">
              <a:lnSpc>
                <a:spcPct val="100000"/>
              </a:lnSpc>
              <a:spcBef>
                <a:spcPts val="400"/>
              </a:spcBef>
              <a:spcAft>
                <a:spcPts val="0"/>
              </a:spcAft>
              <a:buSzPts val="2000"/>
              <a:buNone/>
            </a:pPr>
            <a:r>
              <a:rPr lang="en-US" sz="1400">
                <a:solidFill>
                  <a:srgbClr val="000000"/>
                </a:solidFill>
              </a:rPr>
              <a:t>Inter-VLAN routing is the process of forwarding network traffic from one VLAN to another VLAN.</a:t>
            </a:r>
            <a:endParaRPr/>
          </a:p>
          <a:p>
            <a:pPr indent="0" lvl="0" marL="0" rtl="0" algn="l">
              <a:lnSpc>
                <a:spcPct val="100000"/>
              </a:lnSpc>
              <a:spcBef>
                <a:spcPts val="400"/>
              </a:spcBef>
              <a:spcAft>
                <a:spcPts val="0"/>
              </a:spcAft>
              <a:buSzPts val="2000"/>
              <a:buNone/>
            </a:pPr>
            <a:r>
              <a:t/>
            </a:r>
            <a:endParaRPr sz="1400">
              <a:solidFill>
                <a:srgbClr val="000000"/>
              </a:solidFill>
            </a:endParaRPr>
          </a:p>
          <a:p>
            <a:pPr indent="0" lvl="0" marL="0" rtl="0" algn="l">
              <a:lnSpc>
                <a:spcPct val="100000"/>
              </a:lnSpc>
              <a:spcBef>
                <a:spcPts val="400"/>
              </a:spcBef>
              <a:spcAft>
                <a:spcPts val="0"/>
              </a:spcAft>
              <a:buSzPts val="2000"/>
              <a:buNone/>
            </a:pPr>
            <a:r>
              <a:rPr lang="en-US" sz="1400">
                <a:solidFill>
                  <a:srgbClr val="000000"/>
                </a:solidFill>
              </a:rPr>
              <a:t>There are three inter-VLAN routing options:</a:t>
            </a:r>
            <a:endParaRPr/>
          </a:p>
          <a:p>
            <a:pPr indent="-285750" lvl="1" marL="358835" rtl="0" algn="l">
              <a:lnSpc>
                <a:spcPct val="95000"/>
              </a:lnSpc>
              <a:spcBef>
                <a:spcPts val="600"/>
              </a:spcBef>
              <a:spcAft>
                <a:spcPts val="0"/>
              </a:spcAft>
              <a:buSzPts val="1400"/>
              <a:buFont typeface="Arial"/>
              <a:buChar char="•"/>
            </a:pPr>
            <a:r>
              <a:rPr b="1" lang="en-US">
                <a:solidFill>
                  <a:srgbClr val="000000"/>
                </a:solidFill>
              </a:rPr>
              <a:t>Legacy Inter-VLAN routing</a:t>
            </a:r>
            <a:r>
              <a:rPr lang="en-US">
                <a:solidFill>
                  <a:srgbClr val="000000"/>
                </a:solidFill>
              </a:rPr>
              <a:t> - This is a legacy solution. It does not scale well.</a:t>
            </a:r>
            <a:endParaRPr/>
          </a:p>
          <a:p>
            <a:pPr indent="-285750" lvl="1" marL="358835" rtl="0" algn="l">
              <a:lnSpc>
                <a:spcPct val="95000"/>
              </a:lnSpc>
              <a:spcBef>
                <a:spcPts val="600"/>
              </a:spcBef>
              <a:spcAft>
                <a:spcPts val="0"/>
              </a:spcAft>
              <a:buSzPts val="1400"/>
              <a:buFont typeface="Arial"/>
              <a:buChar char="•"/>
            </a:pPr>
            <a:r>
              <a:rPr b="1" lang="en-US">
                <a:solidFill>
                  <a:srgbClr val="000000"/>
                </a:solidFill>
              </a:rPr>
              <a:t>Router-on-a-Stick</a:t>
            </a:r>
            <a:r>
              <a:rPr lang="en-US">
                <a:solidFill>
                  <a:srgbClr val="000000"/>
                </a:solidFill>
              </a:rPr>
              <a:t> - This is an acceptable solution for a small to medium-sized network.</a:t>
            </a:r>
            <a:endParaRPr/>
          </a:p>
          <a:p>
            <a:pPr indent="-285750" lvl="1" marL="358835" rtl="0" algn="l">
              <a:lnSpc>
                <a:spcPct val="95000"/>
              </a:lnSpc>
              <a:spcBef>
                <a:spcPts val="600"/>
              </a:spcBef>
              <a:spcAft>
                <a:spcPts val="0"/>
              </a:spcAft>
              <a:buSzPts val="1400"/>
              <a:buFont typeface="Arial"/>
              <a:buChar char="•"/>
            </a:pPr>
            <a:r>
              <a:rPr b="1" lang="en-US">
                <a:solidFill>
                  <a:srgbClr val="000000"/>
                </a:solidFill>
              </a:rPr>
              <a:t>Layer 3 switch using switched virtual interfaces (SVIs)</a:t>
            </a:r>
            <a:r>
              <a:rPr lang="en-US">
                <a:solidFill>
                  <a:srgbClr val="000000"/>
                </a:solidFill>
              </a:rPr>
              <a:t> - This is the most scalable solution for medium to large organizations.</a:t>
            </a:r>
            <a:endParaRPr/>
          </a:p>
          <a:p>
            <a:pPr indent="0" lvl="0" marL="0" rtl="0" algn="l">
              <a:lnSpc>
                <a:spcPct val="100000"/>
              </a:lnSpc>
              <a:spcBef>
                <a:spcPts val="400"/>
              </a:spcBef>
              <a:spcAft>
                <a:spcPts val="0"/>
              </a:spcAft>
              <a:buSzPts val="2000"/>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Operation</a:t>
            </a:r>
            <a:br>
              <a:rPr lang="en-US"/>
            </a:br>
            <a:r>
              <a:rPr lang="en-US" sz="2400"/>
              <a:t>Legacy Inter-VLAN Routing</a:t>
            </a:r>
            <a:endParaRPr/>
          </a:p>
        </p:txBody>
      </p:sp>
      <p:sp>
        <p:nvSpPr>
          <p:cNvPr id="480" name="Google Shape;480;p17"/>
          <p:cNvSpPr txBox="1"/>
          <p:nvPr>
            <p:ph idx="1" type="body"/>
          </p:nvPr>
        </p:nvSpPr>
        <p:spPr>
          <a:xfrm>
            <a:off x="474662" y="731837"/>
            <a:ext cx="8280057" cy="1839913"/>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400"/>
              </a:spcBef>
              <a:spcAft>
                <a:spcPts val="0"/>
              </a:spcAft>
              <a:buSzPts val="2000"/>
              <a:buFont typeface="Arial"/>
              <a:buChar char="•"/>
            </a:pPr>
            <a:r>
              <a:rPr lang="en-US" sz="1400">
                <a:solidFill>
                  <a:srgbClr val="000000"/>
                </a:solidFill>
              </a:rPr>
              <a:t>The first inter-VLAN routing solution relied on using a router with multiple Ethernet interfaces. Each router interface was connected to a switch port in different VLANs. The router interfaces served as the default gateways to the local hosts on the VLAN subnet.</a:t>
            </a:r>
            <a:endParaRPr/>
          </a:p>
          <a:p>
            <a:pPr indent="-342900" lvl="0" marL="342900" rtl="0" algn="l">
              <a:lnSpc>
                <a:spcPct val="100000"/>
              </a:lnSpc>
              <a:spcBef>
                <a:spcPts val="400"/>
              </a:spcBef>
              <a:spcAft>
                <a:spcPts val="0"/>
              </a:spcAft>
              <a:buSzPts val="2000"/>
              <a:buFont typeface="Arial"/>
              <a:buChar char="•"/>
            </a:pPr>
            <a:r>
              <a:rPr lang="en-US" sz="1400">
                <a:solidFill>
                  <a:srgbClr val="000000"/>
                </a:solidFill>
              </a:rPr>
              <a:t>Legacy inter-VLAN routing using physical interfaces works, but it has a significant limitation. It is not reasonably scalable because routers have a limited number of physical interfaces. Requiring one physical router interface per VLAN quickly exhausts the physical interface capacity of a router.</a:t>
            </a:r>
            <a:endParaRPr/>
          </a:p>
          <a:p>
            <a:pPr indent="-342900" lvl="0" marL="342900" rtl="0" algn="l">
              <a:lnSpc>
                <a:spcPct val="100000"/>
              </a:lnSpc>
              <a:spcBef>
                <a:spcPts val="400"/>
              </a:spcBef>
              <a:spcAft>
                <a:spcPts val="0"/>
              </a:spcAft>
              <a:buSzPts val="2000"/>
              <a:buFont typeface="Arial"/>
              <a:buChar char="•"/>
            </a:pPr>
            <a:r>
              <a:rPr b="1" lang="en-US" sz="1400">
                <a:solidFill>
                  <a:srgbClr val="000000"/>
                </a:solidFill>
              </a:rPr>
              <a:t>Note</a:t>
            </a:r>
            <a:r>
              <a:rPr lang="en-US" sz="1400">
                <a:solidFill>
                  <a:srgbClr val="000000"/>
                </a:solidFill>
              </a:rPr>
              <a:t>: This method of inter-VLAN routing is no longer implemented in switched networks and is included for explanation purposes only.</a:t>
            </a:r>
            <a:endParaRPr/>
          </a:p>
        </p:txBody>
      </p:sp>
      <p:pic>
        <p:nvPicPr>
          <p:cNvPr id="481" name="Google Shape;481;p17"/>
          <p:cNvPicPr preferRelativeResize="0"/>
          <p:nvPr/>
        </p:nvPicPr>
        <p:blipFill rotWithShape="1">
          <a:blip r:embed="rId3">
            <a:alphaModFix/>
          </a:blip>
          <a:srcRect b="0" l="0" r="0" t="0"/>
          <a:stretch/>
        </p:blipFill>
        <p:spPr>
          <a:xfrm>
            <a:off x="2426389" y="2666246"/>
            <a:ext cx="3704587" cy="202380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Operation</a:t>
            </a:r>
            <a:br>
              <a:rPr lang="en-US"/>
            </a:br>
            <a:r>
              <a:rPr lang="en-US" sz="2400"/>
              <a:t>Router-on-a-Stick Inter-VLAN Routing</a:t>
            </a:r>
            <a:endParaRPr/>
          </a:p>
        </p:txBody>
      </p:sp>
      <p:sp>
        <p:nvSpPr>
          <p:cNvPr id="488" name="Google Shape;488;p29"/>
          <p:cNvSpPr txBox="1"/>
          <p:nvPr>
            <p:ph idx="1" type="body"/>
          </p:nvPr>
        </p:nvSpPr>
        <p:spPr>
          <a:xfrm>
            <a:off x="133004" y="731837"/>
            <a:ext cx="8621715"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400">
                <a:solidFill>
                  <a:srgbClr val="000000"/>
                </a:solidFill>
              </a:rPr>
              <a:t>The ‘router-on-a-stick’ inter-VLAN routing method overcomes the limitation of the legacy inter-VLAN routing method. It only requires one physical Ethernet interface to route traffic between multiple VLANs on a network.</a:t>
            </a:r>
            <a:endParaRPr/>
          </a:p>
          <a:p>
            <a:pPr indent="-285750" lvl="0" marL="285750" rtl="0" algn="l">
              <a:lnSpc>
                <a:spcPct val="100000"/>
              </a:lnSpc>
              <a:spcBef>
                <a:spcPts val="400"/>
              </a:spcBef>
              <a:spcAft>
                <a:spcPts val="0"/>
              </a:spcAft>
              <a:buSzPts val="2000"/>
              <a:buFont typeface="Arial"/>
              <a:buChar char="•"/>
            </a:pPr>
            <a:r>
              <a:rPr lang="en-US" sz="1400">
                <a:solidFill>
                  <a:srgbClr val="000000"/>
                </a:solidFill>
              </a:rPr>
              <a:t>A Cisco IOS router Ethernet interface is configured as an 802.1Q trunk and connected to a trunk port on a Layer 2 switch. Specifically, the router interface is configured using subinterfaces to identify routable VLANs.</a:t>
            </a:r>
            <a:endParaRPr/>
          </a:p>
          <a:p>
            <a:pPr indent="-285750" lvl="0" marL="285750" rtl="0" algn="l">
              <a:lnSpc>
                <a:spcPct val="100000"/>
              </a:lnSpc>
              <a:spcBef>
                <a:spcPts val="400"/>
              </a:spcBef>
              <a:spcAft>
                <a:spcPts val="0"/>
              </a:spcAft>
              <a:buSzPts val="2000"/>
              <a:buFont typeface="Arial"/>
              <a:buChar char="•"/>
            </a:pPr>
            <a:r>
              <a:rPr lang="en-US" sz="1400">
                <a:solidFill>
                  <a:srgbClr val="000000"/>
                </a:solidFill>
              </a:rPr>
              <a:t>The configured subinterfaces are software-based virtual interfaces. Each is associated with a single physical Ethernet interface. Subinterfaces are configured in software on a router. Each subinterface is independently configured with an IP address and VLAN assignment. Subinterfaces are configured for different subnets that correspond to their VLAN assignment. This facilitates logical routing.</a:t>
            </a:r>
            <a:endParaRPr/>
          </a:p>
          <a:p>
            <a:pPr indent="-285750" lvl="0" marL="285750" rtl="0" algn="l">
              <a:lnSpc>
                <a:spcPct val="100000"/>
              </a:lnSpc>
              <a:spcBef>
                <a:spcPts val="400"/>
              </a:spcBef>
              <a:spcAft>
                <a:spcPts val="0"/>
              </a:spcAft>
              <a:buSzPts val="2000"/>
              <a:buFont typeface="Arial"/>
              <a:buChar char="•"/>
            </a:pPr>
            <a:r>
              <a:rPr lang="en-US" sz="1400">
                <a:solidFill>
                  <a:srgbClr val="000000"/>
                </a:solidFill>
              </a:rPr>
              <a:t>When VLAN-tagged traffic enters the router interface, it is forwarded to the VLAN subinterface. After a routing decision is made based on the destination IP network address, the router determines the exit interface for the traffic. If the exit interface is configured as an 802.1q subinterface, the data frames are VLAN-tagged with the new VLAN and sent back out the physical interface</a:t>
            </a:r>
            <a:endParaRPr/>
          </a:p>
          <a:p>
            <a:pPr indent="0" lvl="0" marL="0" rtl="0" algn="l">
              <a:lnSpc>
                <a:spcPct val="100000"/>
              </a:lnSpc>
              <a:spcBef>
                <a:spcPts val="400"/>
              </a:spcBef>
              <a:spcAft>
                <a:spcPts val="0"/>
              </a:spcAft>
              <a:buSzPts val="2000"/>
              <a:buNone/>
            </a:pPr>
            <a:r>
              <a:rPr b="1" lang="en-US" sz="1400">
                <a:solidFill>
                  <a:srgbClr val="000000"/>
                </a:solidFill>
              </a:rPr>
              <a:t>Note</a:t>
            </a:r>
            <a:r>
              <a:rPr lang="en-US" sz="1400">
                <a:solidFill>
                  <a:srgbClr val="000000"/>
                </a:solidFill>
              </a:rPr>
              <a:t>: The router-on-a-stick method of inter-VLAN routing does not scale beyond 50 VLANs</a:t>
            </a:r>
            <a:r>
              <a:rPr lang="en-US" sz="1600">
                <a:solidFill>
                  <a:srgbClr val="000000"/>
                </a:solidFill>
              </a:rPr>
              <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Operation</a:t>
            </a:r>
            <a:br>
              <a:rPr lang="en-US"/>
            </a:br>
            <a:r>
              <a:rPr lang="en-US" sz="2400"/>
              <a:t>Inter-VLAN Routing on a Layer 3 Switch</a:t>
            </a:r>
            <a:endParaRPr/>
          </a:p>
        </p:txBody>
      </p:sp>
      <p:sp>
        <p:nvSpPr>
          <p:cNvPr id="495" name="Google Shape;495;p36"/>
          <p:cNvSpPr txBox="1"/>
          <p:nvPr>
            <p:ph idx="1" type="body"/>
          </p:nvPr>
        </p:nvSpPr>
        <p:spPr>
          <a:xfrm>
            <a:off x="474662" y="731838"/>
            <a:ext cx="8280057" cy="133762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400">
                <a:solidFill>
                  <a:srgbClr val="000000"/>
                </a:solidFill>
              </a:rPr>
              <a:t>The modern method of performing inter-VLAN routing is to use Layer 3 switches and switched virtual interfaces (SVI). An SVI is a virtual interface that is configured on a Layer 3 switch, as shown in the figure.</a:t>
            </a:r>
            <a:endParaRPr/>
          </a:p>
          <a:p>
            <a:pPr indent="0" lvl="0" marL="0" rtl="0" algn="l">
              <a:lnSpc>
                <a:spcPct val="100000"/>
              </a:lnSpc>
              <a:spcBef>
                <a:spcPts val="400"/>
              </a:spcBef>
              <a:spcAft>
                <a:spcPts val="0"/>
              </a:spcAft>
              <a:buSzPts val="2000"/>
              <a:buNone/>
            </a:pPr>
            <a:r>
              <a:t/>
            </a:r>
            <a:endParaRPr b="1" sz="1400">
              <a:solidFill>
                <a:srgbClr val="000000"/>
              </a:solidFill>
            </a:endParaRPr>
          </a:p>
          <a:p>
            <a:pPr indent="0" lvl="0" marL="0" rtl="0" algn="l">
              <a:lnSpc>
                <a:spcPct val="100000"/>
              </a:lnSpc>
              <a:spcBef>
                <a:spcPts val="400"/>
              </a:spcBef>
              <a:spcAft>
                <a:spcPts val="0"/>
              </a:spcAft>
              <a:buSzPts val="2000"/>
              <a:buNone/>
            </a:pPr>
            <a:r>
              <a:rPr b="1" lang="en-US" sz="1400">
                <a:solidFill>
                  <a:srgbClr val="000000"/>
                </a:solidFill>
              </a:rPr>
              <a:t>Note</a:t>
            </a:r>
            <a:r>
              <a:rPr lang="en-US" sz="1400">
                <a:solidFill>
                  <a:srgbClr val="000000"/>
                </a:solidFill>
              </a:rPr>
              <a:t>: A Layer 3 switch is also called a multilayer switch as it operates at Layer 2 and Layer 3. However, in this course we use the term Layer 3 switch.</a:t>
            </a:r>
            <a:endParaRPr/>
          </a:p>
          <a:p>
            <a:pPr indent="-215900" lvl="0" marL="342900" rtl="0" algn="l">
              <a:lnSpc>
                <a:spcPct val="100000"/>
              </a:lnSpc>
              <a:spcBef>
                <a:spcPts val="400"/>
              </a:spcBef>
              <a:spcAft>
                <a:spcPts val="0"/>
              </a:spcAft>
              <a:buSzPts val="2000"/>
              <a:buFont typeface="Arial"/>
              <a:buNone/>
            </a:pPr>
            <a:r>
              <a:t/>
            </a:r>
            <a:endParaRPr sz="1400">
              <a:solidFill>
                <a:srgbClr val="000000"/>
              </a:solidFill>
            </a:endParaRPr>
          </a:p>
        </p:txBody>
      </p:sp>
      <p:pic>
        <p:nvPicPr>
          <p:cNvPr id="496" name="Google Shape;496;p36"/>
          <p:cNvPicPr preferRelativeResize="0"/>
          <p:nvPr/>
        </p:nvPicPr>
        <p:blipFill rotWithShape="1">
          <a:blip r:embed="rId3">
            <a:alphaModFix/>
          </a:blip>
          <a:srcRect b="0" l="0" r="0" t="0"/>
          <a:stretch/>
        </p:blipFill>
        <p:spPr>
          <a:xfrm>
            <a:off x="2470150" y="2268969"/>
            <a:ext cx="4203700" cy="25019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Operation</a:t>
            </a:r>
            <a:br>
              <a:rPr lang="en-US"/>
            </a:br>
            <a:r>
              <a:rPr lang="en-US" sz="2400"/>
              <a:t>Inter-VLAN Routing on a Layer 3 Switch (Cont.)</a:t>
            </a:r>
            <a:endParaRPr/>
          </a:p>
        </p:txBody>
      </p:sp>
      <p:sp>
        <p:nvSpPr>
          <p:cNvPr id="503" name="Google Shape;503;p37"/>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400">
                <a:solidFill>
                  <a:srgbClr val="000000"/>
                </a:solidFill>
              </a:rPr>
              <a:t>Inter-VLAN SVIs are created the same way that the management VLAN interface is configured. The SVI is created for a VLAN that exists on the switch. Although virtual, the SVI performs the same functions for the VLAN as a router interface would. Specifically, it provides Layer 3 processing for packets that are sent to or from all switch ports associated with that VLAN.</a:t>
            </a:r>
            <a:endParaRPr/>
          </a:p>
          <a:p>
            <a:pPr indent="0" lvl="0" marL="0" rtl="0" algn="l">
              <a:lnSpc>
                <a:spcPct val="100000"/>
              </a:lnSpc>
              <a:spcBef>
                <a:spcPts val="400"/>
              </a:spcBef>
              <a:spcAft>
                <a:spcPts val="0"/>
              </a:spcAft>
              <a:buSzPts val="2000"/>
              <a:buNone/>
            </a:pPr>
            <a:r>
              <a:t/>
            </a:r>
            <a:endParaRPr sz="1400">
              <a:solidFill>
                <a:srgbClr val="000000"/>
              </a:solidFill>
            </a:endParaRPr>
          </a:p>
          <a:p>
            <a:pPr indent="0" lvl="0" marL="0" rtl="0" algn="l">
              <a:lnSpc>
                <a:spcPct val="100000"/>
              </a:lnSpc>
              <a:spcBef>
                <a:spcPts val="400"/>
              </a:spcBef>
              <a:spcAft>
                <a:spcPts val="0"/>
              </a:spcAft>
              <a:buSzPts val="2000"/>
              <a:buNone/>
            </a:pPr>
            <a:r>
              <a:rPr lang="en-US" sz="1400">
                <a:solidFill>
                  <a:srgbClr val="000000"/>
                </a:solidFill>
              </a:rPr>
              <a:t>The following are advantages of using Layer 3 switches for inter-VLAN routing:</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They are much faster than router-on-a-stick because everything is hardware switched and routed.</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There is no need for external links from the switch to the router for routing.</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They are not limited to one link because Layer 2 EtherChannels can be used as trunk links between the switches to increase bandwidth.</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Latency is much lower because data does not need to leave the switch in order to be routed to a different network.</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They more commonly deployed in a campus LAN than routers.</a:t>
            </a:r>
            <a:endParaRPr/>
          </a:p>
          <a:p>
            <a:pPr indent="-342900" lvl="0" marL="342900" rtl="0" algn="l">
              <a:lnSpc>
                <a:spcPct val="100000"/>
              </a:lnSpc>
              <a:spcBef>
                <a:spcPts val="400"/>
              </a:spcBef>
              <a:spcAft>
                <a:spcPts val="0"/>
              </a:spcAft>
              <a:buSzPts val="2000"/>
              <a:buFont typeface="Arial"/>
              <a:buChar char="•"/>
            </a:pPr>
            <a:r>
              <a:rPr lang="en-US" sz="1400">
                <a:solidFill>
                  <a:srgbClr val="000000"/>
                </a:solidFill>
              </a:rPr>
              <a:t>The only disadvantage is that Layer 3 switches are more expensive.</a:t>
            </a:r>
            <a:endParaRPr/>
          </a:p>
          <a:p>
            <a:pPr indent="-215900" lvl="0" marL="342900" rtl="0" algn="l">
              <a:lnSpc>
                <a:spcPct val="100000"/>
              </a:lnSpc>
              <a:spcBef>
                <a:spcPts val="400"/>
              </a:spcBef>
              <a:spcAft>
                <a:spcPts val="0"/>
              </a:spcAft>
              <a:buSzPts val="20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3"/>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chemeClr val="accent5"/>
              </a:buClr>
              <a:buSzPts val="4600"/>
              <a:buFont typeface="Arial"/>
              <a:buNone/>
            </a:pPr>
            <a:r>
              <a:rPr lang="en-US">
                <a:solidFill>
                  <a:srgbClr val="AEE8FA"/>
                </a:solidFill>
              </a:rPr>
              <a:t>Router-on-a-Stick Inter-VLAN Routing</a:t>
            </a:r>
            <a:endParaRPr/>
          </a:p>
        </p:txBody>
      </p:sp>
    </p:spTree>
  </p:cSld>
  <p:clrMapOvr>
    <a:masterClrMapping/>
  </p:clrMapOvr>
  <p:transition spd="slow">
    <p:wipe dir="l"/>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Router-on-a-Stick Inter-VLAN Routing</a:t>
            </a:r>
            <a:br>
              <a:rPr lang="en-US"/>
            </a:br>
            <a:r>
              <a:rPr lang="en-US" sz="2400"/>
              <a:t>Router-on-a-Stick Scenario</a:t>
            </a:r>
            <a:endParaRPr/>
          </a:p>
        </p:txBody>
      </p:sp>
      <p:sp>
        <p:nvSpPr>
          <p:cNvPr id="516" name="Google Shape;516;p44"/>
          <p:cNvSpPr txBox="1"/>
          <p:nvPr>
            <p:ph idx="1" type="body"/>
          </p:nvPr>
        </p:nvSpPr>
        <p:spPr>
          <a:xfrm>
            <a:off x="323850" y="731837"/>
            <a:ext cx="5288213"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400"/>
              </a:spcBef>
              <a:spcAft>
                <a:spcPts val="0"/>
              </a:spcAft>
              <a:buSzPts val="2000"/>
              <a:buFont typeface="Arial"/>
              <a:buChar char="•"/>
            </a:pPr>
            <a:r>
              <a:rPr lang="en-US" sz="1400">
                <a:solidFill>
                  <a:srgbClr val="000000"/>
                </a:solidFill>
              </a:rPr>
              <a:t>In the figure, the R1 GigabitEthernet 0/0/1 interface is connected to the S1 FastEthernet 0/5 port. The S1 FastEthernet 0/1 port is connected to the S2 FastEthernet 0/1 port. These are trunk links that are required to forward traffic within and between VLANs.</a:t>
            </a:r>
            <a:endParaRPr/>
          </a:p>
          <a:p>
            <a:pPr indent="-342900" lvl="0" marL="342900" rtl="0" algn="l">
              <a:lnSpc>
                <a:spcPct val="100000"/>
              </a:lnSpc>
              <a:spcBef>
                <a:spcPts val="400"/>
              </a:spcBef>
              <a:spcAft>
                <a:spcPts val="0"/>
              </a:spcAft>
              <a:buSzPts val="2000"/>
              <a:buFont typeface="Arial"/>
              <a:buChar char="•"/>
            </a:pPr>
            <a:r>
              <a:rPr lang="en-US" sz="1400">
                <a:solidFill>
                  <a:srgbClr val="000000"/>
                </a:solidFill>
              </a:rPr>
              <a:t>To route between VLANs, the R1 GigabitEthernet 0/0/1 interface is logically divided into three subinterfaces, as shown in the table. The table also shows the three VLANs that will be configured on the switches.</a:t>
            </a:r>
            <a:endParaRPr/>
          </a:p>
          <a:p>
            <a:pPr indent="-342900" lvl="0" marL="342900" rtl="0" algn="l">
              <a:lnSpc>
                <a:spcPct val="100000"/>
              </a:lnSpc>
              <a:spcBef>
                <a:spcPts val="400"/>
              </a:spcBef>
              <a:spcAft>
                <a:spcPts val="0"/>
              </a:spcAft>
              <a:buSzPts val="2000"/>
              <a:buFont typeface="Arial"/>
              <a:buChar char="•"/>
            </a:pPr>
            <a:r>
              <a:rPr lang="en-US" sz="1400">
                <a:solidFill>
                  <a:srgbClr val="000000"/>
                </a:solidFill>
              </a:rPr>
              <a:t>Assume that R1, S1, and S2 have initial basic configurations. Currently, PC1 and PC2 cannot </a:t>
            </a:r>
            <a:r>
              <a:rPr b="1" lang="en-US" sz="1400">
                <a:solidFill>
                  <a:srgbClr val="000000"/>
                </a:solidFill>
              </a:rPr>
              <a:t>ping</a:t>
            </a:r>
            <a:r>
              <a:rPr lang="en-US" sz="1400">
                <a:solidFill>
                  <a:srgbClr val="000000"/>
                </a:solidFill>
              </a:rPr>
              <a:t> each other because they are on separate networks. Only S1 and S2 can </a:t>
            </a:r>
            <a:r>
              <a:rPr b="1" lang="en-US" sz="1400">
                <a:solidFill>
                  <a:srgbClr val="000000"/>
                </a:solidFill>
              </a:rPr>
              <a:t>ping</a:t>
            </a:r>
            <a:r>
              <a:rPr lang="en-US" sz="1400">
                <a:solidFill>
                  <a:srgbClr val="000000"/>
                </a:solidFill>
              </a:rPr>
              <a:t> each other, but they but are unreachable by PC1 or PC2 because they are also on different networks.</a:t>
            </a:r>
            <a:endParaRPr/>
          </a:p>
          <a:p>
            <a:pPr indent="-342900" lvl="0" marL="342900" rtl="0" algn="l">
              <a:lnSpc>
                <a:spcPct val="100000"/>
              </a:lnSpc>
              <a:spcBef>
                <a:spcPts val="400"/>
              </a:spcBef>
              <a:spcAft>
                <a:spcPts val="0"/>
              </a:spcAft>
              <a:buSzPts val="2000"/>
              <a:buFont typeface="Arial"/>
              <a:buChar char="•"/>
            </a:pPr>
            <a:r>
              <a:rPr lang="en-US" sz="1400">
                <a:solidFill>
                  <a:srgbClr val="000000"/>
                </a:solidFill>
              </a:rPr>
              <a:t>To enable devices to ping each other, the switches must be configured with VLANs and trunking, and the router must be configured for inter-VLAN routing.</a:t>
            </a:r>
            <a:endParaRPr/>
          </a:p>
          <a:p>
            <a:pPr indent="-215900" lvl="0" marL="342900" rtl="0" algn="l">
              <a:lnSpc>
                <a:spcPct val="100000"/>
              </a:lnSpc>
              <a:spcBef>
                <a:spcPts val="400"/>
              </a:spcBef>
              <a:spcAft>
                <a:spcPts val="0"/>
              </a:spcAft>
              <a:buSzPts val="2000"/>
              <a:buFont typeface="Arial"/>
              <a:buNone/>
            </a:pPr>
            <a:r>
              <a:t/>
            </a:r>
            <a:endParaRPr sz="1400">
              <a:solidFill>
                <a:srgbClr val="000000"/>
              </a:solidFill>
            </a:endParaRPr>
          </a:p>
        </p:txBody>
      </p:sp>
      <p:graphicFrame>
        <p:nvGraphicFramePr>
          <p:cNvPr id="517" name="Google Shape;517;p44"/>
          <p:cNvGraphicFramePr/>
          <p:nvPr/>
        </p:nvGraphicFramePr>
        <p:xfrm>
          <a:off x="5719106" y="3423683"/>
          <a:ext cx="3000000" cy="3000000"/>
        </p:xfrm>
        <a:graphic>
          <a:graphicData uri="http://schemas.openxmlformats.org/drawingml/2006/table">
            <a:tbl>
              <a:tblPr bandRow="1" firstRow="1">
                <a:noFill/>
                <a:tableStyleId>{49FB2B56-BD80-4E1C-A1AB-0FB0A6FC08ED}</a:tableStyleId>
              </a:tblPr>
              <a:tblGrid>
                <a:gridCol w="1145000"/>
                <a:gridCol w="538650"/>
                <a:gridCol w="1310325"/>
              </a:tblGrid>
              <a:tr h="326725">
                <a:tc>
                  <a:txBody>
                    <a:bodyPr/>
                    <a:lstStyle/>
                    <a:p>
                      <a:pPr indent="0" lvl="0" marL="0" marR="0" rtl="0" algn="l">
                        <a:lnSpc>
                          <a:spcPct val="100000"/>
                        </a:lnSpc>
                        <a:spcBef>
                          <a:spcPts val="0"/>
                        </a:spcBef>
                        <a:spcAft>
                          <a:spcPts val="0"/>
                        </a:spcAft>
                        <a:buNone/>
                      </a:pPr>
                      <a:r>
                        <a:rPr b="1" lang="en-US" sz="1200" u="none" cap="none" strike="noStrike"/>
                        <a:t>Subinterface</a:t>
                      </a:r>
                      <a:endParaRPr sz="1200" u="none" cap="none" strike="noStrike"/>
                    </a:p>
                  </a:txBody>
                  <a:tcPr marT="47625" marB="47625" marR="47625" marL="47625" anchor="ctr"/>
                </a:tc>
                <a:tc>
                  <a:txBody>
                    <a:bodyPr/>
                    <a:lstStyle/>
                    <a:p>
                      <a:pPr indent="0" lvl="0" marL="0" marR="0" rtl="0" algn="l">
                        <a:lnSpc>
                          <a:spcPct val="100000"/>
                        </a:lnSpc>
                        <a:spcBef>
                          <a:spcPts val="0"/>
                        </a:spcBef>
                        <a:spcAft>
                          <a:spcPts val="0"/>
                        </a:spcAft>
                        <a:buNone/>
                      </a:pPr>
                      <a:r>
                        <a:rPr b="1" lang="en-US" sz="1200" u="none" cap="none" strike="noStrike"/>
                        <a:t>VLAN</a:t>
                      </a:r>
                      <a:endParaRPr sz="1200" u="none" cap="none" strike="noStrike"/>
                    </a:p>
                  </a:txBody>
                  <a:tcPr marT="47625" marB="47625" marR="47625" marL="47625" anchor="ctr"/>
                </a:tc>
                <a:tc>
                  <a:txBody>
                    <a:bodyPr/>
                    <a:lstStyle/>
                    <a:p>
                      <a:pPr indent="0" lvl="0" marL="0" marR="0" rtl="0" algn="l">
                        <a:lnSpc>
                          <a:spcPct val="100000"/>
                        </a:lnSpc>
                        <a:spcBef>
                          <a:spcPts val="0"/>
                        </a:spcBef>
                        <a:spcAft>
                          <a:spcPts val="0"/>
                        </a:spcAft>
                        <a:buNone/>
                      </a:pPr>
                      <a:r>
                        <a:rPr b="1" lang="en-US" sz="1200" u="none" cap="none" strike="noStrike"/>
                        <a:t>IP Address</a:t>
                      </a:r>
                      <a:endParaRPr sz="1200" u="none" cap="none" strike="noStrike"/>
                    </a:p>
                  </a:txBody>
                  <a:tcPr marT="47625" marB="47625" marR="47625" marL="47625" anchor="ctr"/>
                </a:tc>
              </a:tr>
              <a:tr h="326725">
                <a:tc>
                  <a:txBody>
                    <a:bodyPr/>
                    <a:lstStyle/>
                    <a:p>
                      <a:pPr indent="0" lvl="0" marL="0" marR="0" rtl="0" algn="l">
                        <a:lnSpc>
                          <a:spcPct val="100000"/>
                        </a:lnSpc>
                        <a:spcBef>
                          <a:spcPts val="0"/>
                        </a:spcBef>
                        <a:spcAft>
                          <a:spcPts val="0"/>
                        </a:spcAft>
                        <a:buNone/>
                      </a:pPr>
                      <a:r>
                        <a:rPr b="0" lang="en-US" sz="1200" u="none" cap="none" strike="noStrike"/>
                        <a:t>G0/0/1.10</a:t>
                      </a:r>
                      <a:endParaRPr/>
                    </a:p>
                  </a:txBody>
                  <a:tcPr marT="47625" marB="47625" marR="47625" marL="47625" anchor="ctr"/>
                </a:tc>
                <a:tc>
                  <a:txBody>
                    <a:bodyPr/>
                    <a:lstStyle/>
                    <a:p>
                      <a:pPr indent="0" lvl="0" marL="0" marR="0" rtl="0" algn="l">
                        <a:lnSpc>
                          <a:spcPct val="100000"/>
                        </a:lnSpc>
                        <a:spcBef>
                          <a:spcPts val="0"/>
                        </a:spcBef>
                        <a:spcAft>
                          <a:spcPts val="0"/>
                        </a:spcAft>
                        <a:buNone/>
                      </a:pPr>
                      <a:r>
                        <a:rPr b="0" lang="en-US" sz="1200" u="none" cap="none" strike="noStrike"/>
                        <a:t>10</a:t>
                      </a:r>
                      <a:endParaRPr/>
                    </a:p>
                  </a:txBody>
                  <a:tcPr marT="47625" marB="47625" marR="47625" marL="47625" anchor="ctr"/>
                </a:tc>
                <a:tc>
                  <a:txBody>
                    <a:bodyPr/>
                    <a:lstStyle/>
                    <a:p>
                      <a:pPr indent="0" lvl="0" marL="0" marR="0" rtl="0" algn="l">
                        <a:lnSpc>
                          <a:spcPct val="100000"/>
                        </a:lnSpc>
                        <a:spcBef>
                          <a:spcPts val="0"/>
                        </a:spcBef>
                        <a:spcAft>
                          <a:spcPts val="0"/>
                        </a:spcAft>
                        <a:buNone/>
                      </a:pPr>
                      <a:r>
                        <a:rPr b="0" lang="en-US" sz="1200" u="none" cap="none" strike="noStrike"/>
                        <a:t>192.168.10.1/24</a:t>
                      </a:r>
                      <a:endParaRPr/>
                    </a:p>
                  </a:txBody>
                  <a:tcPr marT="47625" marB="47625" marR="47625" marL="47625" anchor="ctr"/>
                </a:tc>
              </a:tr>
              <a:tr h="326725">
                <a:tc>
                  <a:txBody>
                    <a:bodyPr/>
                    <a:lstStyle/>
                    <a:p>
                      <a:pPr indent="0" lvl="0" marL="0" marR="0" rtl="0" algn="l">
                        <a:lnSpc>
                          <a:spcPct val="100000"/>
                        </a:lnSpc>
                        <a:spcBef>
                          <a:spcPts val="0"/>
                        </a:spcBef>
                        <a:spcAft>
                          <a:spcPts val="0"/>
                        </a:spcAft>
                        <a:buNone/>
                      </a:pPr>
                      <a:r>
                        <a:rPr b="0" lang="en-US" sz="1200" u="none" cap="none" strike="noStrike"/>
                        <a:t>G0/0/1.20</a:t>
                      </a:r>
                      <a:endParaRPr/>
                    </a:p>
                  </a:txBody>
                  <a:tcPr marT="47625" marB="47625" marR="47625" marL="47625" anchor="ctr"/>
                </a:tc>
                <a:tc>
                  <a:txBody>
                    <a:bodyPr/>
                    <a:lstStyle/>
                    <a:p>
                      <a:pPr indent="0" lvl="0" marL="0" marR="0" rtl="0" algn="l">
                        <a:lnSpc>
                          <a:spcPct val="100000"/>
                        </a:lnSpc>
                        <a:spcBef>
                          <a:spcPts val="0"/>
                        </a:spcBef>
                        <a:spcAft>
                          <a:spcPts val="0"/>
                        </a:spcAft>
                        <a:buNone/>
                      </a:pPr>
                      <a:r>
                        <a:rPr b="0" lang="en-US" sz="1200" u="none" cap="none" strike="noStrike"/>
                        <a:t>20</a:t>
                      </a:r>
                      <a:endParaRPr/>
                    </a:p>
                  </a:txBody>
                  <a:tcPr marT="47625" marB="47625" marR="47625" marL="47625" anchor="ctr"/>
                </a:tc>
                <a:tc>
                  <a:txBody>
                    <a:bodyPr/>
                    <a:lstStyle/>
                    <a:p>
                      <a:pPr indent="0" lvl="0" marL="0" marR="0" rtl="0" algn="l">
                        <a:lnSpc>
                          <a:spcPct val="100000"/>
                        </a:lnSpc>
                        <a:spcBef>
                          <a:spcPts val="0"/>
                        </a:spcBef>
                        <a:spcAft>
                          <a:spcPts val="0"/>
                        </a:spcAft>
                        <a:buNone/>
                      </a:pPr>
                      <a:r>
                        <a:rPr b="0" lang="en-US" sz="1200" u="none" cap="none" strike="noStrike"/>
                        <a:t>192.168.20.1/24</a:t>
                      </a:r>
                      <a:endParaRPr/>
                    </a:p>
                  </a:txBody>
                  <a:tcPr marT="47625" marB="47625" marR="47625" marL="47625" anchor="ctr"/>
                </a:tc>
              </a:tr>
              <a:tr h="326725">
                <a:tc>
                  <a:txBody>
                    <a:bodyPr/>
                    <a:lstStyle/>
                    <a:p>
                      <a:pPr indent="0" lvl="0" marL="0" marR="0" rtl="0" algn="l">
                        <a:lnSpc>
                          <a:spcPct val="100000"/>
                        </a:lnSpc>
                        <a:spcBef>
                          <a:spcPts val="0"/>
                        </a:spcBef>
                        <a:spcAft>
                          <a:spcPts val="0"/>
                        </a:spcAft>
                        <a:buNone/>
                      </a:pPr>
                      <a:r>
                        <a:rPr b="0" lang="en-US" sz="1200" u="none" cap="none" strike="noStrike"/>
                        <a:t>G0/0/1.30</a:t>
                      </a:r>
                      <a:endParaRPr/>
                    </a:p>
                  </a:txBody>
                  <a:tcPr marT="47625" marB="47625" marR="47625" marL="47625" anchor="ctr"/>
                </a:tc>
                <a:tc>
                  <a:txBody>
                    <a:bodyPr/>
                    <a:lstStyle/>
                    <a:p>
                      <a:pPr indent="0" lvl="0" marL="0" marR="0" rtl="0" algn="l">
                        <a:lnSpc>
                          <a:spcPct val="100000"/>
                        </a:lnSpc>
                        <a:spcBef>
                          <a:spcPts val="0"/>
                        </a:spcBef>
                        <a:spcAft>
                          <a:spcPts val="0"/>
                        </a:spcAft>
                        <a:buNone/>
                      </a:pPr>
                      <a:r>
                        <a:rPr b="0" lang="en-US" sz="1200" u="none" cap="none" strike="noStrike"/>
                        <a:t>99</a:t>
                      </a:r>
                      <a:endParaRPr/>
                    </a:p>
                  </a:txBody>
                  <a:tcPr marT="47625" marB="47625" marR="47625" marL="47625" anchor="ctr"/>
                </a:tc>
                <a:tc>
                  <a:txBody>
                    <a:bodyPr/>
                    <a:lstStyle/>
                    <a:p>
                      <a:pPr indent="0" lvl="0" marL="0" marR="0" rtl="0" algn="l">
                        <a:lnSpc>
                          <a:spcPct val="100000"/>
                        </a:lnSpc>
                        <a:spcBef>
                          <a:spcPts val="0"/>
                        </a:spcBef>
                        <a:spcAft>
                          <a:spcPts val="0"/>
                        </a:spcAft>
                        <a:buNone/>
                      </a:pPr>
                      <a:r>
                        <a:rPr b="0" lang="en-US" sz="1200" u="none" cap="none" strike="noStrike"/>
                        <a:t>192.168.99.1/24</a:t>
                      </a:r>
                      <a:endParaRPr/>
                    </a:p>
                  </a:txBody>
                  <a:tcPr marT="47625" marB="47625" marR="47625" marL="47625" anchor="ctr"/>
                </a:tc>
              </a:tr>
            </a:tbl>
          </a:graphicData>
        </a:graphic>
      </p:graphicFrame>
      <p:pic>
        <p:nvPicPr>
          <p:cNvPr id="518" name="Google Shape;518;p44"/>
          <p:cNvPicPr preferRelativeResize="0"/>
          <p:nvPr/>
        </p:nvPicPr>
        <p:blipFill rotWithShape="1">
          <a:blip r:embed="rId3">
            <a:alphaModFix/>
          </a:blip>
          <a:srcRect b="0" l="0" r="0" t="0"/>
          <a:stretch/>
        </p:blipFill>
        <p:spPr>
          <a:xfrm>
            <a:off x="5612063" y="599151"/>
            <a:ext cx="3208087" cy="274375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Router-on-a-Stick Inter-VLAN Routing</a:t>
            </a:r>
            <a:br>
              <a:rPr lang="en-US"/>
            </a:br>
            <a:r>
              <a:rPr lang="en-US" sz="2400"/>
              <a:t>R1 Subinterface Configuration</a:t>
            </a:r>
            <a:endParaRPr/>
          </a:p>
        </p:txBody>
      </p:sp>
      <p:sp>
        <p:nvSpPr>
          <p:cNvPr id="525" name="Google Shape;525;p4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500">
                <a:solidFill>
                  <a:srgbClr val="000000"/>
                </a:solidFill>
              </a:rPr>
              <a:t>The router-on-a-stick method requires you to create a subinterface for each VLAN to be routed. A subinterface is created using the </a:t>
            </a:r>
            <a:r>
              <a:rPr b="1" lang="en-US" sz="1500">
                <a:solidFill>
                  <a:srgbClr val="000000"/>
                </a:solidFill>
              </a:rPr>
              <a:t>interface</a:t>
            </a:r>
            <a:r>
              <a:rPr lang="en-US" sz="1500">
                <a:solidFill>
                  <a:srgbClr val="000000"/>
                </a:solidFill>
              </a:rPr>
              <a:t> </a:t>
            </a:r>
            <a:r>
              <a:rPr i="1" lang="en-US" sz="1500">
                <a:solidFill>
                  <a:srgbClr val="000000"/>
                </a:solidFill>
              </a:rPr>
              <a:t>interface_id subinterface_id</a:t>
            </a:r>
            <a:r>
              <a:rPr lang="en-US" sz="1500">
                <a:solidFill>
                  <a:srgbClr val="000000"/>
                </a:solidFill>
              </a:rPr>
              <a:t> global configuration mode command. The subinterface syntax is the physical interface followed by a period and a subinterface number. Although not required, it is customary to match the subinterface number with the VLAN number.</a:t>
            </a:r>
            <a:endParaRPr/>
          </a:p>
          <a:p>
            <a:pPr indent="0" lvl="0" marL="0" rtl="0" algn="l">
              <a:lnSpc>
                <a:spcPct val="100000"/>
              </a:lnSpc>
              <a:spcBef>
                <a:spcPts val="400"/>
              </a:spcBef>
              <a:spcAft>
                <a:spcPts val="0"/>
              </a:spcAft>
              <a:buSzPts val="2000"/>
              <a:buNone/>
            </a:pPr>
            <a:r>
              <a:rPr lang="en-US" sz="1500">
                <a:solidFill>
                  <a:srgbClr val="000000"/>
                </a:solidFill>
              </a:rPr>
              <a:t>Each subinterface is then configured with the following two commands:</a:t>
            </a:r>
            <a:endParaRPr/>
          </a:p>
          <a:p>
            <a:pPr indent="-342899" lvl="1" marL="415984" rtl="0" algn="l">
              <a:lnSpc>
                <a:spcPct val="95000"/>
              </a:lnSpc>
              <a:spcBef>
                <a:spcPts val="600"/>
              </a:spcBef>
              <a:spcAft>
                <a:spcPts val="0"/>
              </a:spcAft>
              <a:buSzPts val="1400"/>
              <a:buFont typeface="Arial"/>
              <a:buChar char="•"/>
            </a:pPr>
            <a:r>
              <a:rPr b="1" lang="en-US" sz="1500">
                <a:solidFill>
                  <a:srgbClr val="000000"/>
                </a:solidFill>
              </a:rPr>
              <a:t>encapsulation dot1q</a:t>
            </a:r>
            <a:r>
              <a:rPr lang="en-US" sz="1500">
                <a:solidFill>
                  <a:srgbClr val="000000"/>
                </a:solidFill>
              </a:rPr>
              <a:t> </a:t>
            </a:r>
            <a:r>
              <a:rPr i="1" lang="en-US" sz="1500">
                <a:solidFill>
                  <a:srgbClr val="000000"/>
                </a:solidFill>
              </a:rPr>
              <a:t>vlan_id</a:t>
            </a:r>
            <a:r>
              <a:rPr lang="en-US" sz="1500">
                <a:solidFill>
                  <a:srgbClr val="000000"/>
                </a:solidFill>
              </a:rPr>
              <a:t> </a:t>
            </a:r>
            <a:r>
              <a:rPr b="1" lang="en-US" sz="1500">
                <a:solidFill>
                  <a:srgbClr val="000000"/>
                </a:solidFill>
              </a:rPr>
              <a:t>[native]</a:t>
            </a:r>
            <a:r>
              <a:rPr lang="en-US" sz="1500">
                <a:solidFill>
                  <a:srgbClr val="000000"/>
                </a:solidFill>
              </a:rPr>
              <a:t> - This command configures the subinterface to respond to 802.1Q encapsulated traffic from the specified </a:t>
            </a:r>
            <a:r>
              <a:rPr i="1" lang="en-US" sz="1500">
                <a:solidFill>
                  <a:srgbClr val="000000"/>
                </a:solidFill>
              </a:rPr>
              <a:t>vlan-id</a:t>
            </a:r>
            <a:r>
              <a:rPr lang="en-US" sz="1500">
                <a:solidFill>
                  <a:srgbClr val="000000"/>
                </a:solidFill>
              </a:rPr>
              <a:t>. The </a:t>
            </a:r>
            <a:r>
              <a:rPr b="1" lang="en-US" sz="1500">
                <a:solidFill>
                  <a:srgbClr val="000000"/>
                </a:solidFill>
              </a:rPr>
              <a:t>native</a:t>
            </a:r>
            <a:r>
              <a:rPr lang="en-US" sz="1500">
                <a:solidFill>
                  <a:srgbClr val="000000"/>
                </a:solidFill>
              </a:rPr>
              <a:t> keyword option is only appended to set the native VLAN to something other than VLAN 1.</a:t>
            </a:r>
            <a:endParaRPr/>
          </a:p>
          <a:p>
            <a:pPr indent="-342899" lvl="1" marL="415984" rtl="0" algn="l">
              <a:lnSpc>
                <a:spcPct val="95000"/>
              </a:lnSpc>
              <a:spcBef>
                <a:spcPts val="600"/>
              </a:spcBef>
              <a:spcAft>
                <a:spcPts val="0"/>
              </a:spcAft>
              <a:buSzPts val="1400"/>
              <a:buFont typeface="Arial"/>
              <a:buChar char="•"/>
            </a:pPr>
            <a:r>
              <a:rPr b="1" lang="en-US" sz="1500">
                <a:solidFill>
                  <a:srgbClr val="000000"/>
                </a:solidFill>
              </a:rPr>
              <a:t>ip address</a:t>
            </a:r>
            <a:r>
              <a:rPr lang="en-US" sz="1500">
                <a:solidFill>
                  <a:srgbClr val="000000"/>
                </a:solidFill>
              </a:rPr>
              <a:t> </a:t>
            </a:r>
            <a:r>
              <a:rPr i="1" lang="en-US" sz="1500">
                <a:solidFill>
                  <a:srgbClr val="000000"/>
                </a:solidFill>
              </a:rPr>
              <a:t>ip-address subnet-mask</a:t>
            </a:r>
            <a:r>
              <a:rPr lang="en-US" sz="1500">
                <a:solidFill>
                  <a:srgbClr val="000000"/>
                </a:solidFill>
              </a:rPr>
              <a:t> - This command configures the IPv4 address of the subinterface. This address typically serves as the default gateway for the identified VLAN.</a:t>
            </a:r>
            <a:endParaRPr/>
          </a:p>
          <a:p>
            <a:pPr indent="0" lvl="0" marL="0" rtl="0" algn="l">
              <a:lnSpc>
                <a:spcPct val="100000"/>
              </a:lnSpc>
              <a:spcBef>
                <a:spcPts val="400"/>
              </a:spcBef>
              <a:spcAft>
                <a:spcPts val="0"/>
              </a:spcAft>
              <a:buSzPts val="2000"/>
              <a:buNone/>
            </a:pPr>
            <a:r>
              <a:rPr lang="en-US" sz="1500">
                <a:solidFill>
                  <a:srgbClr val="000000"/>
                </a:solidFill>
              </a:rPr>
              <a:t>Repeat the process for each VLAN to be routed. Each router subinterface must be assigned an IP address on a unique subnet for routing to occur. When all subinterfaces have been created, enable the physical interface using the </a:t>
            </a:r>
            <a:r>
              <a:rPr b="1" lang="en-US" sz="1500">
                <a:solidFill>
                  <a:srgbClr val="000000"/>
                </a:solidFill>
              </a:rPr>
              <a:t>no shutdown</a:t>
            </a:r>
            <a:r>
              <a:rPr lang="en-US" sz="1500">
                <a:solidFill>
                  <a:srgbClr val="000000"/>
                </a:solidFill>
              </a:rPr>
              <a:t> interface configuration command. If the physical interface is disabled, all subinterfaces are disabled.</a:t>
            </a:r>
            <a:endParaRPr/>
          </a:p>
          <a:p>
            <a:pPr indent="-215900" lvl="0" marL="342900" rtl="0" algn="l">
              <a:lnSpc>
                <a:spcPct val="100000"/>
              </a:lnSpc>
              <a:spcBef>
                <a:spcPts val="400"/>
              </a:spcBef>
              <a:spcAft>
                <a:spcPts val="0"/>
              </a:spcAft>
              <a:buSzPts val="20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Router-on-a-Stick Inter-VLAN Routing</a:t>
            </a:r>
            <a:br>
              <a:rPr lang="en-US"/>
            </a:br>
            <a:r>
              <a:rPr lang="en-US" sz="2400"/>
              <a:t>R1 Subinterface Configuration (Cont.)</a:t>
            </a:r>
            <a:endParaRPr/>
          </a:p>
        </p:txBody>
      </p:sp>
      <p:sp>
        <p:nvSpPr>
          <p:cNvPr id="532" name="Google Shape;532;p46"/>
          <p:cNvSpPr txBox="1"/>
          <p:nvPr>
            <p:ph idx="1" type="body"/>
          </p:nvPr>
        </p:nvSpPr>
        <p:spPr>
          <a:xfrm>
            <a:off x="474662" y="731837"/>
            <a:ext cx="2715105"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400">
                <a:solidFill>
                  <a:srgbClr val="000000"/>
                </a:solidFill>
              </a:rPr>
              <a:t>In the configuration, the R1 G0/0/1 subinterfaces are configured for VLANs 10, 20, and 99.</a:t>
            </a:r>
            <a:endParaRPr/>
          </a:p>
        </p:txBody>
      </p:sp>
      <p:pic>
        <p:nvPicPr>
          <p:cNvPr id="533" name="Google Shape;533;p46"/>
          <p:cNvPicPr preferRelativeResize="0"/>
          <p:nvPr/>
        </p:nvPicPr>
        <p:blipFill rotWithShape="1">
          <a:blip r:embed="rId3">
            <a:alphaModFix/>
          </a:blip>
          <a:srcRect b="0" l="0" r="0" t="0"/>
          <a:stretch/>
        </p:blipFill>
        <p:spPr>
          <a:xfrm>
            <a:off x="3270262" y="628741"/>
            <a:ext cx="5549888" cy="40281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Router-on-a-Stick Inter-VLAN Routing</a:t>
            </a:r>
            <a:br>
              <a:rPr lang="en-US"/>
            </a:br>
            <a:r>
              <a:rPr lang="en-US" sz="2400"/>
              <a:t>Verify Connectivity Between PC1 and PC2</a:t>
            </a:r>
            <a:endParaRPr/>
          </a:p>
        </p:txBody>
      </p:sp>
      <p:sp>
        <p:nvSpPr>
          <p:cNvPr id="540" name="Google Shape;540;p47"/>
          <p:cNvSpPr txBox="1"/>
          <p:nvPr>
            <p:ph idx="1" type="body"/>
          </p:nvPr>
        </p:nvSpPr>
        <p:spPr>
          <a:xfrm>
            <a:off x="474662" y="731837"/>
            <a:ext cx="3916585"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400">
                <a:solidFill>
                  <a:srgbClr val="000000"/>
                </a:solidFill>
              </a:rPr>
              <a:t>The router-on-a-stick configuration is complete after the switch trunk and the router subinterfaces have been configured. The configuration can be verified from the hosts, router, and switch.</a:t>
            </a:r>
            <a:endParaRPr/>
          </a:p>
          <a:p>
            <a:pPr indent="0" lvl="0" marL="0" rtl="0" algn="l">
              <a:lnSpc>
                <a:spcPct val="100000"/>
              </a:lnSpc>
              <a:spcBef>
                <a:spcPts val="400"/>
              </a:spcBef>
              <a:spcAft>
                <a:spcPts val="0"/>
              </a:spcAft>
              <a:buSzPts val="2000"/>
              <a:buNone/>
            </a:pPr>
            <a:r>
              <a:t/>
            </a:r>
            <a:endParaRPr sz="1400">
              <a:solidFill>
                <a:srgbClr val="000000"/>
              </a:solidFill>
            </a:endParaRPr>
          </a:p>
          <a:p>
            <a:pPr indent="0" lvl="0" marL="0" rtl="0" algn="l">
              <a:lnSpc>
                <a:spcPct val="100000"/>
              </a:lnSpc>
              <a:spcBef>
                <a:spcPts val="400"/>
              </a:spcBef>
              <a:spcAft>
                <a:spcPts val="0"/>
              </a:spcAft>
              <a:buSzPts val="2000"/>
              <a:buNone/>
            </a:pPr>
            <a:r>
              <a:rPr lang="en-US" sz="1400">
                <a:solidFill>
                  <a:srgbClr val="000000"/>
                </a:solidFill>
              </a:rPr>
              <a:t>From a host, verify connectivity to a host in another VLAN using the </a:t>
            </a:r>
            <a:r>
              <a:rPr b="1" lang="en-US" sz="1400">
                <a:solidFill>
                  <a:srgbClr val="000000"/>
                </a:solidFill>
              </a:rPr>
              <a:t>ping</a:t>
            </a:r>
            <a:r>
              <a:rPr lang="en-US" sz="1400">
                <a:solidFill>
                  <a:srgbClr val="000000"/>
                </a:solidFill>
              </a:rPr>
              <a:t> command. It is a good idea to first verify the current host IP configuration using the </a:t>
            </a:r>
            <a:r>
              <a:rPr b="1" lang="en-US" sz="1400">
                <a:solidFill>
                  <a:srgbClr val="000000"/>
                </a:solidFill>
              </a:rPr>
              <a:t>ipconfig</a:t>
            </a:r>
            <a:r>
              <a:rPr lang="en-US" sz="1400">
                <a:solidFill>
                  <a:srgbClr val="000000"/>
                </a:solidFill>
              </a:rPr>
              <a:t> Windows host command.</a:t>
            </a:r>
            <a:endParaRPr/>
          </a:p>
          <a:p>
            <a:pPr indent="0" lvl="0" marL="0" rtl="0" algn="l">
              <a:lnSpc>
                <a:spcPct val="100000"/>
              </a:lnSpc>
              <a:spcBef>
                <a:spcPts val="400"/>
              </a:spcBef>
              <a:spcAft>
                <a:spcPts val="0"/>
              </a:spcAft>
              <a:buSzPts val="2000"/>
              <a:buNone/>
            </a:pPr>
            <a:r>
              <a:t/>
            </a:r>
            <a:endParaRPr sz="1400">
              <a:solidFill>
                <a:srgbClr val="000000"/>
              </a:solidFill>
            </a:endParaRPr>
          </a:p>
          <a:p>
            <a:pPr indent="0" lvl="0" marL="0" rtl="0" algn="l">
              <a:lnSpc>
                <a:spcPct val="100000"/>
              </a:lnSpc>
              <a:spcBef>
                <a:spcPts val="400"/>
              </a:spcBef>
              <a:spcAft>
                <a:spcPts val="0"/>
              </a:spcAft>
              <a:buSzPts val="2000"/>
              <a:buNone/>
            </a:pPr>
            <a:r>
              <a:rPr lang="en-US" sz="1400">
                <a:solidFill>
                  <a:srgbClr val="000000"/>
                </a:solidFill>
              </a:rPr>
              <a:t>Next, use </a:t>
            </a:r>
            <a:r>
              <a:rPr b="1" lang="en-US" sz="1400">
                <a:solidFill>
                  <a:srgbClr val="000000"/>
                </a:solidFill>
              </a:rPr>
              <a:t>ping</a:t>
            </a:r>
            <a:r>
              <a:rPr lang="en-US" sz="1400">
                <a:solidFill>
                  <a:srgbClr val="000000"/>
                </a:solidFill>
              </a:rPr>
              <a:t> to verify connectivity with PC2 and S1, as shown in the figure. The </a:t>
            </a:r>
            <a:r>
              <a:rPr b="1" lang="en-US" sz="1400">
                <a:solidFill>
                  <a:srgbClr val="000000"/>
                </a:solidFill>
              </a:rPr>
              <a:t>ping</a:t>
            </a:r>
            <a:r>
              <a:rPr lang="en-US" sz="1400">
                <a:solidFill>
                  <a:srgbClr val="000000"/>
                </a:solidFill>
              </a:rPr>
              <a:t> output successfully confirms inter-VLAN routing is operating.</a:t>
            </a:r>
            <a:endParaRPr/>
          </a:p>
        </p:txBody>
      </p:sp>
      <p:pic>
        <p:nvPicPr>
          <p:cNvPr id="541" name="Google Shape;541;p47"/>
          <p:cNvPicPr preferRelativeResize="0"/>
          <p:nvPr/>
        </p:nvPicPr>
        <p:blipFill rotWithShape="1">
          <a:blip r:embed="rId3">
            <a:alphaModFix/>
          </a:blip>
          <a:srcRect b="0" l="0" r="0" t="0"/>
          <a:stretch/>
        </p:blipFill>
        <p:spPr>
          <a:xfrm>
            <a:off x="4621359" y="818704"/>
            <a:ext cx="4078121" cy="364559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Router-on-a-Stick Inter-VLAN Routing</a:t>
            </a:r>
            <a:br>
              <a:rPr lang="en-US"/>
            </a:br>
            <a:r>
              <a:rPr lang="en-US" sz="2400"/>
              <a:t>Router-on-a-Stick Inter-VLAN Routing Verification</a:t>
            </a:r>
            <a:endParaRPr/>
          </a:p>
        </p:txBody>
      </p:sp>
      <p:sp>
        <p:nvSpPr>
          <p:cNvPr id="548" name="Google Shape;548;p48"/>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800">
                <a:solidFill>
                  <a:srgbClr val="000000"/>
                </a:solidFill>
              </a:rPr>
              <a:t>In addition to using </a:t>
            </a:r>
            <a:r>
              <a:rPr b="1" lang="en-US" sz="1800">
                <a:solidFill>
                  <a:srgbClr val="000000"/>
                </a:solidFill>
              </a:rPr>
              <a:t>ping</a:t>
            </a:r>
            <a:r>
              <a:rPr lang="en-US" sz="1800">
                <a:solidFill>
                  <a:srgbClr val="000000"/>
                </a:solidFill>
              </a:rPr>
              <a:t> between devices, the following </a:t>
            </a:r>
            <a:r>
              <a:rPr b="1" lang="en-US" sz="1800">
                <a:solidFill>
                  <a:srgbClr val="000000"/>
                </a:solidFill>
              </a:rPr>
              <a:t>show</a:t>
            </a:r>
            <a:r>
              <a:rPr lang="en-US" sz="1800">
                <a:solidFill>
                  <a:srgbClr val="000000"/>
                </a:solidFill>
              </a:rPr>
              <a:t> commands can be used to verify and troubleshoot the router-on-a-stick configuration.</a:t>
            </a:r>
            <a:endParaRPr/>
          </a:p>
          <a:p>
            <a:pPr indent="-342900" lvl="0" marL="342900" rtl="0" algn="l">
              <a:lnSpc>
                <a:spcPct val="100000"/>
              </a:lnSpc>
              <a:spcBef>
                <a:spcPts val="400"/>
              </a:spcBef>
              <a:spcAft>
                <a:spcPts val="0"/>
              </a:spcAft>
              <a:buSzPts val="2000"/>
              <a:buFont typeface="Arial"/>
              <a:buChar char="•"/>
            </a:pPr>
            <a:r>
              <a:rPr b="1" lang="en-US" sz="1800">
                <a:solidFill>
                  <a:srgbClr val="000000"/>
                </a:solidFill>
              </a:rPr>
              <a:t>show ip route</a:t>
            </a:r>
            <a:endParaRPr sz="1800">
              <a:solidFill>
                <a:srgbClr val="000000"/>
              </a:solidFill>
            </a:endParaRPr>
          </a:p>
          <a:p>
            <a:pPr indent="-342900" lvl="0" marL="342900" rtl="0" algn="l">
              <a:lnSpc>
                <a:spcPct val="100000"/>
              </a:lnSpc>
              <a:spcBef>
                <a:spcPts val="400"/>
              </a:spcBef>
              <a:spcAft>
                <a:spcPts val="0"/>
              </a:spcAft>
              <a:buSzPts val="2000"/>
              <a:buFont typeface="Arial"/>
              <a:buChar char="•"/>
            </a:pPr>
            <a:r>
              <a:rPr b="1" lang="en-US" sz="1800">
                <a:solidFill>
                  <a:srgbClr val="000000"/>
                </a:solidFill>
              </a:rPr>
              <a:t>show ip interface brief</a:t>
            </a:r>
            <a:endParaRPr sz="1800">
              <a:solidFill>
                <a:srgbClr val="000000"/>
              </a:solidFill>
            </a:endParaRPr>
          </a:p>
          <a:p>
            <a:pPr indent="-342900" lvl="0" marL="342900" rtl="0" algn="l">
              <a:lnSpc>
                <a:spcPct val="100000"/>
              </a:lnSpc>
              <a:spcBef>
                <a:spcPts val="400"/>
              </a:spcBef>
              <a:spcAft>
                <a:spcPts val="0"/>
              </a:spcAft>
              <a:buSzPts val="2000"/>
              <a:buFont typeface="Arial"/>
              <a:buChar char="•"/>
            </a:pPr>
            <a:r>
              <a:rPr b="1" lang="en-US" sz="1800">
                <a:solidFill>
                  <a:srgbClr val="000000"/>
                </a:solidFill>
              </a:rPr>
              <a:t>show interfaces</a:t>
            </a:r>
            <a:endParaRPr sz="1800">
              <a:solidFill>
                <a:srgbClr val="000000"/>
              </a:solidFill>
            </a:endParaRPr>
          </a:p>
          <a:p>
            <a:pPr indent="-342900" lvl="0" marL="342900" rtl="0" algn="l">
              <a:lnSpc>
                <a:spcPct val="100000"/>
              </a:lnSpc>
              <a:spcBef>
                <a:spcPts val="400"/>
              </a:spcBef>
              <a:spcAft>
                <a:spcPts val="0"/>
              </a:spcAft>
              <a:buSzPts val="2000"/>
              <a:buFont typeface="Arial"/>
              <a:buChar char="•"/>
            </a:pPr>
            <a:r>
              <a:rPr b="1" lang="en-US" sz="1800">
                <a:solidFill>
                  <a:srgbClr val="000000"/>
                </a:solidFill>
              </a:rPr>
              <a:t>show interfaces trunk</a:t>
            </a:r>
            <a:endParaRPr sz="1800">
              <a:solidFill>
                <a:srgbClr val="000000"/>
              </a:solidFill>
            </a:endParaRPr>
          </a:p>
          <a:p>
            <a:pPr indent="-215900" lvl="0" marL="342900" rtl="0" algn="l">
              <a:lnSpc>
                <a:spcPct val="100000"/>
              </a:lnSpc>
              <a:spcBef>
                <a:spcPts val="400"/>
              </a:spcBef>
              <a:spcAft>
                <a:spcPts val="0"/>
              </a:spcAft>
              <a:buSzPts val="20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9"/>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chemeClr val="accent5"/>
              </a:buClr>
              <a:buSzPts val="4600"/>
              <a:buFont typeface="Arial"/>
              <a:buNone/>
            </a:pPr>
            <a:r>
              <a:rPr lang="en-US">
                <a:solidFill>
                  <a:srgbClr val="AEE8FA"/>
                </a:solidFill>
              </a:rPr>
              <a:t>Inter-VLAN Routing using Layer 3 Switches</a:t>
            </a:r>
            <a:endParaRPr/>
          </a:p>
        </p:txBody>
      </p:sp>
    </p:spTree>
  </p:cSld>
  <p:clrMapOvr>
    <a:masterClrMapping/>
  </p:clrMapOvr>
  <p:transition spd="slow">
    <p:wipe dir="l"/>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using Layer 3 Switches</a:t>
            </a:r>
            <a:br>
              <a:rPr lang="en-US"/>
            </a:br>
            <a:r>
              <a:rPr lang="en-US" sz="2400"/>
              <a:t>Layer 3 Switch Inter-VLAN Routing</a:t>
            </a:r>
            <a:endParaRPr/>
          </a:p>
        </p:txBody>
      </p:sp>
      <p:sp>
        <p:nvSpPr>
          <p:cNvPr id="561" name="Google Shape;561;p50"/>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500">
                <a:solidFill>
                  <a:srgbClr val="000000"/>
                </a:solidFill>
              </a:rPr>
              <a:t>Inter-VLAN routing using the router-on-a-stick method is simple to implement for a small to medium-sized organization. However, a large enterprise requires a faster, much more scalable method to provide inter-VLAN routing.</a:t>
            </a:r>
            <a:endParaRPr/>
          </a:p>
          <a:p>
            <a:pPr indent="0" lvl="0" marL="0" rtl="0" algn="l">
              <a:lnSpc>
                <a:spcPct val="100000"/>
              </a:lnSpc>
              <a:spcBef>
                <a:spcPts val="400"/>
              </a:spcBef>
              <a:spcAft>
                <a:spcPts val="0"/>
              </a:spcAft>
              <a:buSzPts val="2000"/>
              <a:buNone/>
            </a:pPr>
            <a:r>
              <a:t/>
            </a:r>
            <a:endParaRPr sz="1500">
              <a:solidFill>
                <a:srgbClr val="000000"/>
              </a:solidFill>
            </a:endParaRPr>
          </a:p>
          <a:p>
            <a:pPr indent="0" lvl="0" marL="0" rtl="0" algn="l">
              <a:lnSpc>
                <a:spcPct val="100000"/>
              </a:lnSpc>
              <a:spcBef>
                <a:spcPts val="400"/>
              </a:spcBef>
              <a:spcAft>
                <a:spcPts val="0"/>
              </a:spcAft>
              <a:buSzPts val="2000"/>
              <a:buNone/>
            </a:pPr>
            <a:r>
              <a:rPr lang="en-US" sz="1500">
                <a:solidFill>
                  <a:srgbClr val="000000"/>
                </a:solidFill>
              </a:rPr>
              <a:t>Enterprise campus LANs use Layer 3 switches to provide inter-VLAN routing. Layer 3 switches use hardware-based switching to achieve higher-packet processing rates than routers. Layer 3 switches are also commonly implemented in enterprise distribution layer wiring closets.</a:t>
            </a:r>
            <a:endParaRPr/>
          </a:p>
          <a:p>
            <a:pPr indent="0" lvl="0" marL="0" rtl="0" algn="l">
              <a:lnSpc>
                <a:spcPct val="100000"/>
              </a:lnSpc>
              <a:spcBef>
                <a:spcPts val="400"/>
              </a:spcBef>
              <a:spcAft>
                <a:spcPts val="0"/>
              </a:spcAft>
              <a:buSzPts val="2000"/>
              <a:buNone/>
            </a:pPr>
            <a:r>
              <a:t/>
            </a:r>
            <a:endParaRPr sz="1500">
              <a:solidFill>
                <a:srgbClr val="000000"/>
              </a:solidFill>
            </a:endParaRPr>
          </a:p>
          <a:p>
            <a:pPr indent="0" lvl="0" marL="0" rtl="0" algn="l">
              <a:lnSpc>
                <a:spcPct val="100000"/>
              </a:lnSpc>
              <a:spcBef>
                <a:spcPts val="400"/>
              </a:spcBef>
              <a:spcAft>
                <a:spcPts val="0"/>
              </a:spcAft>
              <a:buSzPts val="2000"/>
              <a:buNone/>
            </a:pPr>
            <a:r>
              <a:rPr lang="en-US" sz="1500">
                <a:solidFill>
                  <a:srgbClr val="000000"/>
                </a:solidFill>
              </a:rPr>
              <a:t>Capabilities of a Layer 3 switch include the ability to do the following:</a:t>
            </a:r>
            <a:endParaRPr/>
          </a:p>
          <a:p>
            <a:pPr indent="-342899" lvl="1" marL="415984" rtl="0" algn="l">
              <a:lnSpc>
                <a:spcPct val="95000"/>
              </a:lnSpc>
              <a:spcBef>
                <a:spcPts val="600"/>
              </a:spcBef>
              <a:spcAft>
                <a:spcPts val="0"/>
              </a:spcAft>
              <a:buSzPts val="1400"/>
              <a:buFont typeface="Arial"/>
              <a:buChar char="•"/>
            </a:pPr>
            <a:r>
              <a:rPr lang="en-US" sz="1500">
                <a:solidFill>
                  <a:srgbClr val="000000"/>
                </a:solidFill>
              </a:rPr>
              <a:t>Route from one VLAN to another using multiple switched virtual interfaces (SVIs).</a:t>
            </a:r>
            <a:endParaRPr/>
          </a:p>
          <a:p>
            <a:pPr indent="-342899" lvl="1" marL="415984" rtl="0" algn="l">
              <a:lnSpc>
                <a:spcPct val="95000"/>
              </a:lnSpc>
              <a:spcBef>
                <a:spcPts val="600"/>
              </a:spcBef>
              <a:spcAft>
                <a:spcPts val="0"/>
              </a:spcAft>
              <a:buSzPts val="1400"/>
              <a:buFont typeface="Arial"/>
              <a:buChar char="•"/>
            </a:pPr>
            <a:r>
              <a:rPr lang="en-US" sz="1500">
                <a:solidFill>
                  <a:srgbClr val="000000"/>
                </a:solidFill>
              </a:rPr>
              <a:t>Convert a Layer 2 switchport to a Layer 3 interface (i.e., a routed port). A routed port is similar to a physical interface on a Cisco IOS router.</a:t>
            </a:r>
            <a:endParaRPr/>
          </a:p>
          <a:p>
            <a:pPr indent="-342899" lvl="1" marL="415984" rtl="0" algn="l">
              <a:lnSpc>
                <a:spcPct val="95000"/>
              </a:lnSpc>
              <a:spcBef>
                <a:spcPts val="600"/>
              </a:spcBef>
              <a:spcAft>
                <a:spcPts val="0"/>
              </a:spcAft>
              <a:buSzPts val="1400"/>
              <a:buFont typeface="Arial"/>
              <a:buChar char="•"/>
            </a:pPr>
            <a:r>
              <a:rPr lang="en-US" sz="1500">
                <a:solidFill>
                  <a:srgbClr val="000000"/>
                </a:solidFill>
              </a:rPr>
              <a:t>To provide inter-VLAN routing, Layer 3 switches use SVIs. SVIs are configured using the same </a:t>
            </a:r>
            <a:r>
              <a:rPr b="1" lang="en-US" sz="1500">
                <a:solidFill>
                  <a:srgbClr val="000000"/>
                </a:solidFill>
              </a:rPr>
              <a:t>interface vlan</a:t>
            </a:r>
            <a:r>
              <a:rPr lang="en-US" sz="1500">
                <a:solidFill>
                  <a:srgbClr val="000000"/>
                </a:solidFill>
              </a:rPr>
              <a:t> </a:t>
            </a:r>
            <a:r>
              <a:rPr i="1" lang="en-US" sz="1500">
                <a:solidFill>
                  <a:srgbClr val="000000"/>
                </a:solidFill>
              </a:rPr>
              <a:t>vlan-id</a:t>
            </a:r>
            <a:r>
              <a:rPr lang="en-US" sz="1500">
                <a:solidFill>
                  <a:srgbClr val="000000"/>
                </a:solidFill>
              </a:rPr>
              <a:t> command used to create the management SVI on a Layer 2 switch. A Layer 3 SVI must be created for each of the routable VLANs.</a:t>
            </a:r>
            <a:endParaRPr/>
          </a:p>
          <a:p>
            <a:pPr indent="-215900" lvl="0" marL="342900" rtl="0" algn="l">
              <a:lnSpc>
                <a:spcPct val="100000"/>
              </a:lnSpc>
              <a:spcBef>
                <a:spcPts val="400"/>
              </a:spcBef>
              <a:spcAft>
                <a:spcPts val="0"/>
              </a:spcAft>
              <a:buSzPts val="20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using Layer 3 Switches</a:t>
            </a:r>
            <a:br>
              <a:rPr lang="en-US"/>
            </a:br>
            <a:r>
              <a:rPr lang="en-US" sz="2400"/>
              <a:t>Layer 3 Switch Scenario</a:t>
            </a:r>
            <a:endParaRPr/>
          </a:p>
        </p:txBody>
      </p:sp>
      <p:sp>
        <p:nvSpPr>
          <p:cNvPr id="568" name="Google Shape;568;p51"/>
          <p:cNvSpPr/>
          <p:nvPr/>
        </p:nvSpPr>
        <p:spPr>
          <a:xfrm>
            <a:off x="372140" y="1150862"/>
            <a:ext cx="3197630"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In the figure, the Layer 3 switch, D1, is connected to two hosts on different VLANs. PC1 is in VLAN 10 and PC2 is in VLAN 20, as shown. The Layer 3 switch will provide inter-VLAN routing services to the two hosts.</a:t>
            </a:r>
            <a:endParaRPr/>
          </a:p>
        </p:txBody>
      </p:sp>
      <p:pic>
        <p:nvPicPr>
          <p:cNvPr id="569" name="Google Shape;569;p51"/>
          <p:cNvPicPr preferRelativeResize="0"/>
          <p:nvPr>
            <p:ph idx="1" type="body"/>
          </p:nvPr>
        </p:nvPicPr>
        <p:blipFill rotWithShape="1">
          <a:blip r:embed="rId3">
            <a:alphaModFix/>
          </a:blip>
          <a:srcRect b="0" l="0" r="0" t="0"/>
          <a:stretch/>
        </p:blipFill>
        <p:spPr>
          <a:xfrm>
            <a:off x="3569770" y="731837"/>
            <a:ext cx="4775718" cy="36893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using Layer 3 Switches</a:t>
            </a:r>
            <a:br>
              <a:rPr lang="en-US"/>
            </a:br>
            <a:r>
              <a:rPr lang="en-US" sz="2400"/>
              <a:t>Layer 3 Switch Configuration</a:t>
            </a:r>
            <a:endParaRPr/>
          </a:p>
        </p:txBody>
      </p:sp>
      <p:sp>
        <p:nvSpPr>
          <p:cNvPr id="576" name="Google Shape;576;p67"/>
          <p:cNvSpPr txBox="1"/>
          <p:nvPr>
            <p:ph idx="1" type="body"/>
          </p:nvPr>
        </p:nvSpPr>
        <p:spPr>
          <a:xfrm>
            <a:off x="474663" y="731837"/>
            <a:ext cx="5033002"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400">
                <a:solidFill>
                  <a:srgbClr val="000000"/>
                </a:solidFill>
              </a:rPr>
              <a:t>Complete the following steps to configure S1 with VLANs and trunking:</a:t>
            </a:r>
            <a:endParaRPr/>
          </a:p>
          <a:p>
            <a:pPr indent="-342900" lvl="0" marL="342900" rtl="0" algn="l">
              <a:lnSpc>
                <a:spcPct val="100000"/>
              </a:lnSpc>
              <a:spcBef>
                <a:spcPts val="400"/>
              </a:spcBef>
              <a:spcAft>
                <a:spcPts val="0"/>
              </a:spcAft>
              <a:buSzPts val="2000"/>
              <a:buFont typeface="Arial"/>
              <a:buChar char="•"/>
            </a:pPr>
            <a:r>
              <a:rPr b="1" lang="en-US" sz="1400">
                <a:solidFill>
                  <a:srgbClr val="000000"/>
                </a:solidFill>
              </a:rPr>
              <a:t>Step 1</a:t>
            </a:r>
            <a:r>
              <a:rPr lang="en-US" sz="1400">
                <a:solidFill>
                  <a:srgbClr val="000000"/>
                </a:solidFill>
              </a:rPr>
              <a:t>. Create the VLANs. In the example, VLANs 10 and 20 are used.</a:t>
            </a:r>
            <a:endParaRPr/>
          </a:p>
          <a:p>
            <a:pPr indent="-342900" lvl="0" marL="342900" rtl="0" algn="l">
              <a:lnSpc>
                <a:spcPct val="100000"/>
              </a:lnSpc>
              <a:spcBef>
                <a:spcPts val="400"/>
              </a:spcBef>
              <a:spcAft>
                <a:spcPts val="0"/>
              </a:spcAft>
              <a:buSzPts val="2000"/>
              <a:buFont typeface="Arial"/>
              <a:buChar char="•"/>
            </a:pPr>
            <a:r>
              <a:rPr b="1" lang="en-US" sz="1400">
                <a:solidFill>
                  <a:srgbClr val="000000"/>
                </a:solidFill>
              </a:rPr>
              <a:t>Step 2</a:t>
            </a:r>
            <a:r>
              <a:rPr lang="en-US" sz="1400">
                <a:solidFill>
                  <a:srgbClr val="000000"/>
                </a:solidFill>
              </a:rPr>
              <a:t>. Create the SVI VLAN interfaces. The IP address configured will serve as the default gateway for hosts in the respective VLAN.</a:t>
            </a:r>
            <a:endParaRPr/>
          </a:p>
          <a:p>
            <a:pPr indent="-342900" lvl="0" marL="342900" rtl="0" algn="l">
              <a:lnSpc>
                <a:spcPct val="100000"/>
              </a:lnSpc>
              <a:spcBef>
                <a:spcPts val="400"/>
              </a:spcBef>
              <a:spcAft>
                <a:spcPts val="0"/>
              </a:spcAft>
              <a:buSzPts val="2000"/>
              <a:buFont typeface="Arial"/>
              <a:buChar char="•"/>
            </a:pPr>
            <a:r>
              <a:rPr b="1" lang="en-US" sz="1400">
                <a:solidFill>
                  <a:srgbClr val="000000"/>
                </a:solidFill>
              </a:rPr>
              <a:t>Step 3</a:t>
            </a:r>
            <a:r>
              <a:rPr lang="en-US" sz="1400">
                <a:solidFill>
                  <a:srgbClr val="000000"/>
                </a:solidFill>
              </a:rPr>
              <a:t>. Configure access ports. Assign the appropriate port to the required VLAN.</a:t>
            </a:r>
            <a:endParaRPr/>
          </a:p>
          <a:p>
            <a:pPr indent="-342900" lvl="0" marL="342900" rtl="0" algn="l">
              <a:lnSpc>
                <a:spcPct val="100000"/>
              </a:lnSpc>
              <a:spcBef>
                <a:spcPts val="400"/>
              </a:spcBef>
              <a:spcAft>
                <a:spcPts val="0"/>
              </a:spcAft>
              <a:buSzPts val="2000"/>
              <a:buFont typeface="Arial"/>
              <a:buChar char="•"/>
            </a:pPr>
            <a:r>
              <a:rPr b="1" lang="en-US" sz="1400">
                <a:solidFill>
                  <a:srgbClr val="000000"/>
                </a:solidFill>
              </a:rPr>
              <a:t>Step 4</a:t>
            </a:r>
            <a:r>
              <a:rPr lang="en-US" sz="1400">
                <a:solidFill>
                  <a:srgbClr val="000000"/>
                </a:solidFill>
              </a:rPr>
              <a:t>. Enable IP routing.</a:t>
            </a:r>
            <a:r>
              <a:rPr lang="en-US">
                <a:solidFill>
                  <a:srgbClr val="000000"/>
                </a:solidFill>
              </a:rPr>
              <a:t> </a:t>
            </a:r>
            <a:r>
              <a:rPr lang="en-US" sz="1400">
                <a:solidFill>
                  <a:srgbClr val="000000"/>
                </a:solidFill>
              </a:rPr>
              <a:t>Issue the </a:t>
            </a:r>
            <a:r>
              <a:rPr b="1" lang="en-US" sz="1400">
                <a:solidFill>
                  <a:srgbClr val="000000"/>
                </a:solidFill>
              </a:rPr>
              <a:t>ip routing</a:t>
            </a:r>
            <a:r>
              <a:rPr lang="en-US" sz="1400">
                <a:solidFill>
                  <a:srgbClr val="000000"/>
                </a:solidFill>
              </a:rPr>
              <a:t> global configuration command to allow traffic to be exchanged between VLANs 10 and 20. This command must be configured to enable inter-VAN routing on a Layer 3 switch for IPv4.</a:t>
            </a:r>
            <a:endParaRPr/>
          </a:p>
          <a:p>
            <a:pPr indent="-215900" lvl="0" marL="342900" rtl="0" algn="l">
              <a:lnSpc>
                <a:spcPct val="100000"/>
              </a:lnSpc>
              <a:spcBef>
                <a:spcPts val="400"/>
              </a:spcBef>
              <a:spcAft>
                <a:spcPts val="0"/>
              </a:spcAft>
              <a:buSzPts val="2000"/>
              <a:buFont typeface="Arial"/>
              <a:buNone/>
            </a:pPr>
            <a:r>
              <a:t/>
            </a:r>
            <a:endParaRPr sz="1400">
              <a:solidFill>
                <a:srgbClr val="000000"/>
              </a:solidFill>
            </a:endParaRPr>
          </a:p>
        </p:txBody>
      </p:sp>
      <p:pic>
        <p:nvPicPr>
          <p:cNvPr id="577" name="Google Shape;577;p67"/>
          <p:cNvPicPr preferRelativeResize="0"/>
          <p:nvPr/>
        </p:nvPicPr>
        <p:blipFill rotWithShape="1">
          <a:blip r:embed="rId3">
            <a:alphaModFix/>
          </a:blip>
          <a:srcRect b="0" l="0" r="0" t="0"/>
          <a:stretch/>
        </p:blipFill>
        <p:spPr>
          <a:xfrm>
            <a:off x="5341121" y="1286189"/>
            <a:ext cx="3328216" cy="257112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using Layer 3 Switches</a:t>
            </a:r>
            <a:br>
              <a:rPr lang="en-US"/>
            </a:br>
            <a:r>
              <a:rPr lang="en-US" sz="2400"/>
              <a:t>Layer 3 Switch Inter-VLAN Routing Verification</a:t>
            </a:r>
            <a:endParaRPr/>
          </a:p>
        </p:txBody>
      </p:sp>
      <p:sp>
        <p:nvSpPr>
          <p:cNvPr id="584" name="Google Shape;584;p68"/>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600">
                <a:solidFill>
                  <a:srgbClr val="000000"/>
                </a:solidFill>
              </a:rPr>
              <a:t>Inter-VLAN routing using a Layer 3 switch is simpler to configure than the router-on-a-stick method. After the configuration is complete, the configuration can be verified by testing connectivity between the hosts.</a:t>
            </a:r>
            <a:endParaRPr/>
          </a:p>
          <a:p>
            <a:pPr indent="-342900" lvl="0" marL="342900" rtl="0" algn="l">
              <a:lnSpc>
                <a:spcPct val="100000"/>
              </a:lnSpc>
              <a:spcBef>
                <a:spcPts val="400"/>
              </a:spcBef>
              <a:spcAft>
                <a:spcPts val="0"/>
              </a:spcAft>
              <a:buSzPts val="2000"/>
              <a:buFont typeface="Arial"/>
              <a:buChar char="•"/>
            </a:pPr>
            <a:r>
              <a:rPr lang="en-US" sz="1600">
                <a:solidFill>
                  <a:srgbClr val="000000"/>
                </a:solidFill>
              </a:rPr>
              <a:t>From a host, verify connectivity to a host in another VLAN using the </a:t>
            </a:r>
            <a:r>
              <a:rPr b="1" lang="en-US" sz="1600">
                <a:solidFill>
                  <a:srgbClr val="000000"/>
                </a:solidFill>
              </a:rPr>
              <a:t>ping</a:t>
            </a:r>
            <a:r>
              <a:rPr lang="en-US" sz="1600">
                <a:solidFill>
                  <a:srgbClr val="000000"/>
                </a:solidFill>
              </a:rPr>
              <a:t> command. It is a good idea to first verify the current host IP configuration using the </a:t>
            </a:r>
            <a:r>
              <a:rPr b="1" lang="en-US" sz="1600">
                <a:solidFill>
                  <a:srgbClr val="000000"/>
                </a:solidFill>
              </a:rPr>
              <a:t>ipconfig</a:t>
            </a:r>
            <a:r>
              <a:rPr lang="en-US" sz="1600">
                <a:solidFill>
                  <a:srgbClr val="000000"/>
                </a:solidFill>
              </a:rPr>
              <a:t> Windows host command. </a:t>
            </a:r>
            <a:endParaRPr/>
          </a:p>
          <a:p>
            <a:pPr indent="-342900" lvl="0" marL="342900" rtl="0" algn="l">
              <a:lnSpc>
                <a:spcPct val="100000"/>
              </a:lnSpc>
              <a:spcBef>
                <a:spcPts val="400"/>
              </a:spcBef>
              <a:spcAft>
                <a:spcPts val="0"/>
              </a:spcAft>
              <a:buSzPts val="2000"/>
              <a:buFont typeface="Arial"/>
              <a:buChar char="•"/>
            </a:pPr>
            <a:r>
              <a:rPr lang="en-US" sz="1600">
                <a:solidFill>
                  <a:srgbClr val="000000"/>
                </a:solidFill>
              </a:rPr>
              <a:t>Next, verify connectivity with PC2 using the </a:t>
            </a:r>
            <a:r>
              <a:rPr b="1" lang="en-US" sz="1600">
                <a:solidFill>
                  <a:srgbClr val="000000"/>
                </a:solidFill>
              </a:rPr>
              <a:t>ping</a:t>
            </a:r>
            <a:r>
              <a:rPr lang="en-US" sz="1600">
                <a:solidFill>
                  <a:srgbClr val="000000"/>
                </a:solidFill>
              </a:rPr>
              <a:t> Windows host command. The successful </a:t>
            </a:r>
            <a:r>
              <a:rPr b="1" lang="en-US" sz="1600">
                <a:solidFill>
                  <a:srgbClr val="000000"/>
                </a:solidFill>
              </a:rPr>
              <a:t>ping</a:t>
            </a:r>
            <a:r>
              <a:rPr lang="en-US" sz="1600">
                <a:solidFill>
                  <a:srgbClr val="000000"/>
                </a:solidFill>
              </a:rPr>
              <a:t> output confirms inter-VLAN routing is operating.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Inter-VLAN Routing using Layer 3 Switches</a:t>
            </a:r>
            <a:br>
              <a:rPr lang="en-US"/>
            </a:br>
            <a:r>
              <a:rPr lang="en-US" sz="2400"/>
              <a:t>Routing on a Layer 3 Switch</a:t>
            </a:r>
            <a:endParaRPr/>
          </a:p>
        </p:txBody>
      </p:sp>
      <p:sp>
        <p:nvSpPr>
          <p:cNvPr id="591" name="Google Shape;591;p69"/>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400"/>
              </a:spcBef>
              <a:spcAft>
                <a:spcPts val="0"/>
              </a:spcAft>
              <a:buSzPts val="2000"/>
              <a:buNone/>
            </a:pPr>
            <a:r>
              <a:rPr lang="en-US" sz="1600">
                <a:solidFill>
                  <a:srgbClr val="000000"/>
                </a:solidFill>
              </a:rPr>
              <a:t>If VLANs are to be reachable by other Layer 3 devices, then they must be advertised using static or dynamic routing. To enable routing on a Layer 3 switch, a routed port must be configured.</a:t>
            </a:r>
            <a:endParaRPr/>
          </a:p>
          <a:p>
            <a:pPr indent="0" lvl="0" marL="0" rtl="0" algn="l">
              <a:lnSpc>
                <a:spcPct val="100000"/>
              </a:lnSpc>
              <a:spcBef>
                <a:spcPts val="400"/>
              </a:spcBef>
              <a:spcAft>
                <a:spcPts val="0"/>
              </a:spcAft>
              <a:buSzPts val="2000"/>
              <a:buNone/>
            </a:pPr>
            <a:r>
              <a:t/>
            </a:r>
            <a:endParaRPr sz="1600">
              <a:solidFill>
                <a:srgbClr val="000000"/>
              </a:solidFill>
            </a:endParaRPr>
          </a:p>
          <a:p>
            <a:pPr indent="0" lvl="0" marL="0" rtl="0" algn="l">
              <a:lnSpc>
                <a:spcPct val="100000"/>
              </a:lnSpc>
              <a:spcBef>
                <a:spcPts val="400"/>
              </a:spcBef>
              <a:spcAft>
                <a:spcPts val="0"/>
              </a:spcAft>
              <a:buSzPts val="2000"/>
              <a:buNone/>
            </a:pPr>
            <a:r>
              <a:rPr lang="en-US" sz="1600">
                <a:solidFill>
                  <a:srgbClr val="000000"/>
                </a:solidFill>
              </a:rPr>
              <a:t>A routed port is created on a Layer 3 switch by disabling the switchport feature on a Layer 2 port that is connected to another Layer 3 device. Specifically, configuring the </a:t>
            </a:r>
            <a:r>
              <a:rPr b="1" lang="en-US" sz="1600">
                <a:solidFill>
                  <a:srgbClr val="000000"/>
                </a:solidFill>
              </a:rPr>
              <a:t>no switchport</a:t>
            </a:r>
            <a:r>
              <a:rPr lang="en-US" sz="1600">
                <a:solidFill>
                  <a:srgbClr val="000000"/>
                </a:solidFill>
              </a:rPr>
              <a:t> interface configuration command on a Layer 2 port converts it into a Layer 3 interface. Then the interface can be configured with an IPv4 configuration to connect to a router or another Layer 3 switch.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2016-08-22T22:27:36Z</dcterms:created>
  <dc:creator>bvachon@cisco.com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